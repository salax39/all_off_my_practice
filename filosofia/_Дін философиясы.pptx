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greenwhite_reading_share_20230419/Cover-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greenwhite_reading_share_20230419/Catalog-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greenwhite_reading_share_20230419/Session-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p:bgPr>
    </p:bg>
    <p:spTree>
      <p:nvGrpSpPr>
        <p:cNvPr id="1" name=""/>
        <p:cNvGrpSpPr/>
        <p:nvPr/>
      </p:nvGrpSpPr>
      <p:grpSpPr>
        <a:xfrm>
          <a:off x="0" y="0"/>
          <a:ext cx="0" cy="0"/>
          <a:chOff x="0" y="0"/>
          <a:chExt cx="0" cy="0"/>
        </a:xfrm>
      </p:grpSpPr>
      <p:pic>
        <p:nvPicPr>
          <p:cNvPr id="2" name="Image 0" descr="https://assets.mindshow.fun/themes/greenwhite_reading_share_20230419/End-bg.jpg">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62013" y="2690813"/>
            <a:ext cx="7187565" cy="747713"/>
          </a:xfrm>
          <a:prstGeom prst="rect">
            <a:avLst/>
          </a:prstGeom>
          <a:noFill/>
          <a:ln/>
        </p:spPr>
        <p:txBody>
          <a:bodyPr wrap="square" rtlCol="0" anchor="b"/>
          <a:lstStyle/>
          <a:p>
            <a:pPr indent="0" marL="0">
              <a:buNone/>
            </a:pPr>
            <a:r>
              <a:rPr lang="en-US" sz="3605" b="1" dirty="0">
                <a:solidFill>
                  <a:srgbClr val="112629"/>
                </a:solidFill>
                <a:latin typeface="Noto Serif SC" pitchFamily="34" charset="0"/>
                <a:ea typeface="Noto Serif SC" pitchFamily="34" charset="-122"/>
                <a:cs typeface="Noto Serif SC" pitchFamily="34" charset="-120"/>
              </a:rPr>
              <a:t> Дін философиясы</a:t>
            </a:r>
            <a:endParaRPr lang="en-US" sz="3605" dirty="0"/>
          </a:p>
        </p:txBody>
      </p:sp>
      <p:sp>
        <p:nvSpPr>
          <p:cNvPr id="3" name="Text 1"/>
          <p:cNvSpPr/>
          <p:nvPr/>
        </p:nvSpPr>
        <p:spPr>
          <a:xfrm>
            <a:off x="862013" y="4286250"/>
            <a:ext cx="2619375" cy="542925"/>
          </a:xfrm>
          <a:prstGeom prst="rect">
            <a:avLst/>
          </a:prstGeom>
          <a:noFill/>
          <a:ln/>
        </p:spPr>
        <p:txBody>
          <a:bodyPr wrap="square" rtlCol="0" anchor="t"/>
          <a:lstStyle/>
          <a:p>
            <a:pPr indent="0" marL="0">
              <a:buNone/>
            </a:pPr>
            <a:endParaRPr lang="en-US" sz="1400" dirty="0"/>
          </a:p>
          <a:p>
            <a:pPr indent="0" marL="0">
              <a:buNone/>
            </a:pPr>
            <a:r>
              <a:rPr lang="en-US" sz="1400" dirty="0">
                <a:solidFill>
                  <a:srgbClr val="383838"/>
                </a:solidFill>
                <a:latin typeface="Noto Serif SC" pitchFamily="34" charset="0"/>
                <a:ea typeface="Noto Serif SC" pitchFamily="34" charset="-122"/>
                <a:cs typeface="Noto Serif SC" pitchFamily="34" charset="-120"/>
              </a:rPr>
              <a:t>2023-12-07</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324225" y="428625"/>
            <a:ext cx="5162550" cy="819150"/>
          </a:xfrm>
          <a:prstGeom prst="rect">
            <a:avLst/>
          </a:prstGeom>
          <a:noFill/>
          <a:ln/>
        </p:spPr>
        <p:txBody>
          <a:bodyPr wrap="square" rtlCol="0" anchor="ctr"/>
          <a:lstStyle/>
          <a:p>
            <a:pPr indent="0" marL="0">
              <a:buNone/>
            </a:pPr>
            <a:r>
              <a:rPr lang="en-US" sz="4200" b="1" dirty="0">
                <a:solidFill>
                  <a:srgbClr val="112629"/>
                </a:solidFill>
                <a:latin typeface="Noto Serif SC" pitchFamily="34" charset="0"/>
                <a:ea typeface="Noto Serif SC" pitchFamily="34" charset="-122"/>
                <a:cs typeface="Noto Serif SC" pitchFamily="34" charset="-120"/>
              </a:rPr>
              <a:t> CONTENTS </a:t>
            </a:r>
            <a:endParaRPr lang="en-US" sz="4200" dirty="0"/>
          </a:p>
        </p:txBody>
      </p:sp>
      <p:sp>
        <p:nvSpPr>
          <p:cNvPr id="3" name="Text 1"/>
          <p:cNvSpPr/>
          <p:nvPr/>
        </p:nvSpPr>
        <p:spPr>
          <a:xfrm>
            <a:off x="3638550" y="1547813"/>
            <a:ext cx="4710113" cy="3219450"/>
          </a:xfrm>
          <a:prstGeom prst="rect">
            <a:avLst/>
          </a:prstGeom>
          <a:noFill/>
          <a:ln/>
        </p:spPr>
        <p:txBody>
          <a:bodyPr wrap="square" rtlCol="0" anchor="t"/>
          <a:lstStyle/>
          <a:p>
            <a:pPr algn="l" marL="342900" indent="-342900">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1.Дін философтары</a:t>
            </a:r>
            <a:endParaRPr lang="en-US" sz="1750" dirty="0"/>
          </a:p>
          <a:p>
            <a:pPr algn="l" marL="342900" indent="-342900">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2.дін және ғылым</a:t>
            </a:r>
            <a:endParaRPr lang="en-US" sz="1750" dirty="0"/>
          </a:p>
          <a:p>
            <a:pPr algn="l" marL="342900" indent="-342900">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3.Канттың діни философиясы</a:t>
            </a:r>
            <a:endParaRPr lang="en-US" sz="1750" dirty="0"/>
          </a:p>
          <a:p>
            <a:pPr algn="l" marL="342900" indent="-342900">
              <a:lnSpc>
                <a:spcPct val="150000"/>
              </a:lnSpc>
              <a:buSzPct val="100000"/>
              <a:buChar char="•"/>
            </a:pPr>
            <a:r>
              <a:rPr lang="en-US" sz="1750" dirty="0">
                <a:solidFill>
                  <a:srgbClr val="000000"/>
                </a:solidFill>
                <a:latin typeface="Noto Serif SC" pitchFamily="34" charset="0"/>
                <a:ea typeface="Noto Serif SC" pitchFamily="34" charset="-122"/>
                <a:cs typeface="Noto Serif SC" pitchFamily="34" charset="-120"/>
              </a:rPr>
              <a:t>4.Қортынды</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29425" y="3090863"/>
            <a:ext cx="1900238" cy="1233488"/>
          </a:xfrm>
          <a:prstGeom prst="rect">
            <a:avLst/>
          </a:prstGeom>
          <a:noFill/>
          <a:ln/>
        </p:spPr>
        <p:txBody>
          <a:bodyPr wrap="square" rtlCol="0" anchor="ctr"/>
          <a:lstStyle/>
          <a:p>
            <a:pPr indent="0" marL="0">
              <a:buNone/>
            </a:pPr>
            <a:r>
              <a:rPr lang="en-US" sz="5760" b="1" dirty="0">
                <a:solidFill>
                  <a:srgbClr val="112629"/>
                </a:solidFill>
                <a:latin typeface="Noto Serif SC" pitchFamily="34" charset="0"/>
                <a:ea typeface="Noto Serif SC" pitchFamily="34" charset="-122"/>
                <a:cs typeface="Noto Serif SC" pitchFamily="34" charset="-120"/>
              </a:rPr>
              <a:t>01</a:t>
            </a:r>
            <a:endParaRPr lang="en-US" sz="5760" dirty="0"/>
          </a:p>
        </p:txBody>
      </p:sp>
      <p:sp>
        <p:nvSpPr>
          <p:cNvPr id="3" name="Text 1"/>
          <p:cNvSpPr/>
          <p:nvPr/>
        </p:nvSpPr>
        <p:spPr>
          <a:xfrm>
            <a:off x="428625" y="1495425"/>
            <a:ext cx="5101590" cy="1652588"/>
          </a:xfrm>
          <a:prstGeom prst="rect">
            <a:avLst/>
          </a:prstGeom>
          <a:noFill/>
          <a:ln/>
        </p:spPr>
        <p:txBody>
          <a:bodyPr wrap="square" rtlCol="0" anchor="t"/>
          <a:lstStyle/>
          <a:p>
            <a:pPr indent="0" marL="0">
              <a:buNone/>
            </a:pPr>
            <a:r>
              <a:rPr lang="en-US" sz="3500" b="1" dirty="0">
                <a:solidFill>
                  <a:srgbClr val="000000"/>
                </a:solidFill>
                <a:latin typeface="Noto Serif SC" pitchFamily="34" charset="0"/>
                <a:ea typeface="Noto Serif SC" pitchFamily="34" charset="-122"/>
                <a:cs typeface="Noto Serif SC" pitchFamily="34" charset="-120"/>
              </a:rPr>
              <a:t>1.Дін философтары</a:t>
            </a:r>
            <a:endParaRPr lang="en-US" sz="3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62000" y="776288"/>
            <a:ext cx="7806690" cy="2143"/>
          </a:xfrm>
          <a:prstGeom prst="rect">
            <a:avLst/>
          </a:prstGeom>
          <a:solidFill>
            <a:srgbClr val="112629"/>
          </a:solidFill>
          <a:ln/>
        </p:spPr>
      </p:sp>
      <p:sp>
        <p:nvSpPr>
          <p:cNvPr id="3" name="Text 1"/>
          <p:cNvSpPr/>
          <p:nvPr/>
        </p:nvSpPr>
        <p:spPr>
          <a:xfrm>
            <a:off x="762000" y="228600"/>
            <a:ext cx="7806690" cy="547688"/>
          </a:xfrm>
          <a:prstGeom prst="rect">
            <a:avLst/>
          </a:prstGeom>
          <a:noFill/>
          <a:ln/>
        </p:spPr>
        <p:txBody>
          <a:bodyPr wrap="square" rtlCol="0" anchor="ctr"/>
          <a:lstStyle/>
          <a:p>
            <a:pPr indent="0" marL="0">
              <a:buNone/>
            </a:pPr>
            <a:r>
              <a:rPr lang="en-US" sz="2625" b="1" dirty="0">
                <a:solidFill>
                  <a:srgbClr val="112629"/>
                </a:solidFill>
                <a:latin typeface="Noto Serif SC" pitchFamily="34" charset="0"/>
                <a:ea typeface="Noto Serif SC" pitchFamily="34" charset="-122"/>
                <a:cs typeface="Noto Serif SC" pitchFamily="34" charset="-120"/>
              </a:rPr>
              <a:t>1.Дін философтары</a:t>
            </a:r>
            <a:endParaRPr lang="en-US" sz="2625" dirty="0"/>
          </a:p>
        </p:txBody>
      </p:sp>
      <p:sp>
        <p:nvSpPr>
          <p:cNvPr id="4" name="Text 2"/>
          <p:cNvSpPr/>
          <p:nvPr/>
        </p:nvSpPr>
        <p:spPr>
          <a:xfrm>
            <a:off x="762000" y="1209675"/>
            <a:ext cx="7715250" cy="3548063"/>
          </a:xfrm>
          <a:prstGeom prst="rect">
            <a:avLst/>
          </a:prstGeom>
          <a:noFill/>
          <a:ln/>
        </p:spPr>
        <p:txBody>
          <a:bodyPr wrap="square" rtlCol="0" anchor="t"/>
          <a:lstStyle/>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Дін философтары Құдайдың табиғаты туралы көптеген зерттеулер жүргізді.Ұқсас ұсыныстарға мыналар жатады:</a:t>
            </a:r>
            <a:endParaRPr lang="en-US" sz="1330" dirty="0"/>
          </a:p>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Құдай деген не?</a:t>
            </a:r>
            <a:endParaRPr lang="en-US" sz="1330" dirty="0"/>
          </a:p>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Құдай жалғыз (бір құдайға сену) немесе көп (көпқұдайшылық) ба? ### Осыған байланысты ежелгі грек ойшылы Платон бір кездері адамдар грек мифологиясындағы политеистік көзқарастан гөрі кемел және жоғары Құдайға сену керек деп есептеген; бұл монотеизмді жақтайтын көзқарас.</a:t>
            </a:r>
            <a:endParaRPr lang="en-US" sz="1330" dirty="0"/>
          </a:p>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Құдайдың қандай қасиеттері бар?</a:t>
            </a:r>
            <a:endParaRPr lang="en-US" sz="1330" dirty="0"/>
          </a:p>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Құдай ғаламмен тең бе?</a:t>
            </a:r>
            <a:endParaRPr lang="en-US" sz="1330" dirty="0"/>
          </a:p>
          <a:p>
            <a:pPr algn="l" marL="342900" indent="-342900">
              <a:lnSpc>
                <a:spcPct val="150000"/>
              </a:lnSpc>
              <a:buSzPct val="100000"/>
              <a:buChar char="•"/>
            </a:pPr>
            <a:r>
              <a:rPr lang="en-US" sz="1330" dirty="0">
                <a:solidFill>
                  <a:srgbClr val="000000"/>
                </a:solidFill>
                <a:latin typeface="Noto Serif SC" pitchFamily="34" charset="0"/>
                <a:ea typeface="Noto Serif SC" pitchFamily="34" charset="-122"/>
                <a:cs typeface="Noto Serif SC" pitchFamily="34" charset="-120"/>
              </a:rPr>
              <a:t>Жоғарыдағы ұсыныстар сансыз байланысты философиялық ойлау мен парадокстарды тудырды.</a:t>
            </a:r>
            <a:endParaRPr lang="en-US" sz="13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29425" y="3090863"/>
            <a:ext cx="1900238" cy="1233488"/>
          </a:xfrm>
          <a:prstGeom prst="rect">
            <a:avLst/>
          </a:prstGeom>
          <a:noFill/>
          <a:ln/>
        </p:spPr>
        <p:txBody>
          <a:bodyPr wrap="square" rtlCol="0" anchor="ctr"/>
          <a:lstStyle/>
          <a:p>
            <a:pPr indent="0" marL="0">
              <a:buNone/>
            </a:pPr>
            <a:r>
              <a:rPr lang="en-US" sz="5760" b="1" dirty="0">
                <a:solidFill>
                  <a:srgbClr val="112629"/>
                </a:solidFill>
                <a:latin typeface="Noto Serif SC" pitchFamily="34" charset="0"/>
                <a:ea typeface="Noto Serif SC" pitchFamily="34" charset="-122"/>
                <a:cs typeface="Noto Serif SC" pitchFamily="34" charset="-120"/>
              </a:rPr>
              <a:t>02</a:t>
            </a:r>
            <a:endParaRPr lang="en-US" sz="5760" dirty="0"/>
          </a:p>
        </p:txBody>
      </p:sp>
      <p:sp>
        <p:nvSpPr>
          <p:cNvPr id="3" name="Text 1"/>
          <p:cNvSpPr/>
          <p:nvPr/>
        </p:nvSpPr>
        <p:spPr>
          <a:xfrm>
            <a:off x="428625" y="1495425"/>
            <a:ext cx="5101590" cy="1652588"/>
          </a:xfrm>
          <a:prstGeom prst="rect">
            <a:avLst/>
          </a:prstGeom>
          <a:noFill/>
          <a:ln/>
        </p:spPr>
        <p:txBody>
          <a:bodyPr wrap="square" rtlCol="0" anchor="t"/>
          <a:lstStyle/>
          <a:p>
            <a:pPr indent="0" marL="0">
              <a:buNone/>
            </a:pPr>
            <a:r>
              <a:rPr lang="en-US" sz="3500" b="1" dirty="0">
                <a:solidFill>
                  <a:srgbClr val="000000"/>
                </a:solidFill>
                <a:latin typeface="Noto Serif SC" pitchFamily="34" charset="0"/>
                <a:ea typeface="Noto Serif SC" pitchFamily="34" charset="-122"/>
                <a:cs typeface="Noto Serif SC" pitchFamily="34" charset="-120"/>
              </a:rPr>
              <a:t>2.дін және ғылым</a:t>
            </a:r>
            <a:endParaRPr lang="en-US" sz="3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62000" y="776288"/>
            <a:ext cx="7806690" cy="2143"/>
          </a:xfrm>
          <a:prstGeom prst="rect">
            <a:avLst/>
          </a:prstGeom>
          <a:solidFill>
            <a:srgbClr val="112629"/>
          </a:solidFill>
          <a:ln/>
        </p:spPr>
      </p:sp>
      <p:sp>
        <p:nvSpPr>
          <p:cNvPr id="3" name="Text 1"/>
          <p:cNvSpPr/>
          <p:nvPr/>
        </p:nvSpPr>
        <p:spPr>
          <a:xfrm>
            <a:off x="762000" y="228600"/>
            <a:ext cx="7806690" cy="547688"/>
          </a:xfrm>
          <a:prstGeom prst="rect">
            <a:avLst/>
          </a:prstGeom>
          <a:noFill/>
          <a:ln/>
        </p:spPr>
        <p:txBody>
          <a:bodyPr wrap="square" rtlCol="0" anchor="ctr"/>
          <a:lstStyle/>
          <a:p>
            <a:pPr indent="0" marL="0">
              <a:buNone/>
            </a:pPr>
            <a:r>
              <a:rPr lang="en-US" sz="2625" b="1" dirty="0">
                <a:solidFill>
                  <a:srgbClr val="112629"/>
                </a:solidFill>
                <a:latin typeface="Noto Serif SC" pitchFamily="34" charset="0"/>
                <a:ea typeface="Noto Serif SC" pitchFamily="34" charset="-122"/>
                <a:cs typeface="Noto Serif SC" pitchFamily="34" charset="-120"/>
              </a:rPr>
              <a:t>2.дін және ғылым</a:t>
            </a:r>
            <a:endParaRPr lang="en-US" sz="2625" dirty="0"/>
          </a:p>
        </p:txBody>
      </p:sp>
      <p:sp>
        <p:nvSpPr>
          <p:cNvPr id="4" name="Text 2"/>
          <p:cNvSpPr/>
          <p:nvPr/>
        </p:nvSpPr>
        <p:spPr>
          <a:xfrm>
            <a:off x="762000" y="1209675"/>
            <a:ext cx="7715250" cy="3548063"/>
          </a:xfrm>
          <a:prstGeom prst="rect">
            <a:avLst/>
          </a:prstGeom>
          <a:noFill/>
          <a:ln/>
        </p:spPr>
        <p:txBody>
          <a:bodyPr wrap="square" rtlCol="0" anchor="t"/>
          <a:lstStyle/>
          <a:p>
            <a:pPr algn="l" marL="342900" indent="-342900">
              <a:lnSpc>
                <a:spcPct val="150000"/>
              </a:lnSpc>
              <a:buSzPct val="100000"/>
              <a:buChar char="•"/>
            </a:pPr>
            <a:r>
              <a:rPr lang="en-US" sz="1680" dirty="0">
                <a:solidFill>
                  <a:srgbClr val="000000"/>
                </a:solidFill>
                <a:latin typeface="Noto Serif SC" pitchFamily="34" charset="0"/>
                <a:ea typeface="Noto Serif SC" pitchFamily="34" charset="-122"/>
                <a:cs typeface="Noto Serif SC" pitchFamily="34" charset="-120"/>
              </a:rPr>
              <a:t>Жалпы, ғылым тәжірибе арқылы байқауға болатын дүниені зерттеумен айналысса, дін материалдық емес және сезіммен тікелей қабылданбайтын салалармен айналысады. Тарихқа көз жүгіртсек, ғылым мен дін бейбіт қатар өмір сүрген. Қазіргі таңда ғылым дамыған тұста діни философтардың бір тобы дін мен ғылым бір-бірімен үйлеспейді деп есептесе, екінші топ ғылым мен дінді бір-біріне әсер етпейтін екі бөлек сала деп есептейді.</a:t>
            </a:r>
            <a:endParaRPr lang="en-US" sz="1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29425" y="3090863"/>
            <a:ext cx="1900238" cy="1233488"/>
          </a:xfrm>
          <a:prstGeom prst="rect">
            <a:avLst/>
          </a:prstGeom>
          <a:noFill/>
          <a:ln/>
        </p:spPr>
        <p:txBody>
          <a:bodyPr wrap="square" rtlCol="0" anchor="ctr"/>
          <a:lstStyle/>
          <a:p>
            <a:pPr indent="0" marL="0">
              <a:buNone/>
            </a:pPr>
            <a:r>
              <a:rPr lang="en-US" sz="5760" b="1" dirty="0">
                <a:solidFill>
                  <a:srgbClr val="112629"/>
                </a:solidFill>
                <a:latin typeface="Noto Serif SC" pitchFamily="34" charset="0"/>
                <a:ea typeface="Noto Serif SC" pitchFamily="34" charset="-122"/>
                <a:cs typeface="Noto Serif SC" pitchFamily="34" charset="-120"/>
              </a:rPr>
              <a:t>03</a:t>
            </a:r>
            <a:endParaRPr lang="en-US" sz="5760" dirty="0"/>
          </a:p>
        </p:txBody>
      </p:sp>
      <p:sp>
        <p:nvSpPr>
          <p:cNvPr id="3" name="Text 1"/>
          <p:cNvSpPr/>
          <p:nvPr/>
        </p:nvSpPr>
        <p:spPr>
          <a:xfrm>
            <a:off x="428625" y="1495425"/>
            <a:ext cx="5101590" cy="1652588"/>
          </a:xfrm>
          <a:prstGeom prst="rect">
            <a:avLst/>
          </a:prstGeom>
          <a:noFill/>
          <a:ln/>
        </p:spPr>
        <p:txBody>
          <a:bodyPr wrap="square" rtlCol="0" anchor="t"/>
          <a:lstStyle/>
          <a:p>
            <a:pPr indent="0" marL="0">
              <a:buNone/>
            </a:pPr>
            <a:r>
              <a:rPr lang="en-US" sz="3255" b="1" dirty="0">
                <a:solidFill>
                  <a:srgbClr val="000000"/>
                </a:solidFill>
                <a:latin typeface="Noto Serif SC" pitchFamily="34" charset="0"/>
                <a:ea typeface="Noto Serif SC" pitchFamily="34" charset="-122"/>
                <a:cs typeface="Noto Serif SC" pitchFamily="34" charset="-120"/>
              </a:rPr>
              <a:t>3.Канттың діни философиясы</a:t>
            </a:r>
            <a:endParaRPr lang="en-US" sz="325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62000" y="776288"/>
            <a:ext cx="7806690" cy="2143"/>
          </a:xfrm>
          <a:prstGeom prst="rect">
            <a:avLst/>
          </a:prstGeom>
          <a:solidFill>
            <a:srgbClr val="112629"/>
          </a:solidFill>
          <a:ln/>
        </p:spPr>
      </p:sp>
      <p:sp>
        <p:nvSpPr>
          <p:cNvPr id="3" name="Text 1"/>
          <p:cNvSpPr/>
          <p:nvPr/>
        </p:nvSpPr>
        <p:spPr>
          <a:xfrm>
            <a:off x="762000" y="228600"/>
            <a:ext cx="7806690" cy="547688"/>
          </a:xfrm>
          <a:prstGeom prst="rect">
            <a:avLst/>
          </a:prstGeom>
          <a:noFill/>
          <a:ln/>
        </p:spPr>
        <p:txBody>
          <a:bodyPr wrap="square" rtlCol="0" anchor="ctr"/>
          <a:lstStyle/>
          <a:p>
            <a:pPr indent="0" marL="0">
              <a:buNone/>
            </a:pPr>
            <a:r>
              <a:rPr lang="en-US" sz="2625" b="1" dirty="0">
                <a:solidFill>
                  <a:srgbClr val="112629"/>
                </a:solidFill>
                <a:latin typeface="Noto Serif SC" pitchFamily="34" charset="0"/>
                <a:ea typeface="Noto Serif SC" pitchFamily="34" charset="-122"/>
                <a:cs typeface="Noto Serif SC" pitchFamily="34" charset="-120"/>
              </a:rPr>
              <a:t>3.Канттың діни философиясы</a:t>
            </a:r>
            <a:endParaRPr lang="en-US" sz="2625" dirty="0"/>
          </a:p>
        </p:txBody>
      </p:sp>
      <p:sp>
        <p:nvSpPr>
          <p:cNvPr id="4" name="Text 2"/>
          <p:cNvSpPr/>
          <p:nvPr/>
        </p:nvSpPr>
        <p:spPr>
          <a:xfrm>
            <a:off x="762000" y="1209675"/>
            <a:ext cx="7715250" cy="3548063"/>
          </a:xfrm>
          <a:prstGeom prst="rect">
            <a:avLst/>
          </a:prstGeom>
          <a:noFill/>
          <a:ln/>
        </p:spPr>
        <p:txBody>
          <a:bodyPr wrap="square" rtlCol="0" anchor="t"/>
          <a:lstStyle/>
          <a:p>
            <a:pPr algn="l" marL="342900" indent="-342900">
              <a:lnSpc>
                <a:spcPct val="150000"/>
              </a:lnSpc>
              <a:buSzPct val="100000"/>
              <a:buChar char="•"/>
            </a:pPr>
            <a:r>
              <a:rPr lang="en-US" sz="1540" dirty="0">
                <a:solidFill>
                  <a:srgbClr val="000000"/>
                </a:solidFill>
                <a:latin typeface="Noto Serif SC" pitchFamily="34" charset="0"/>
                <a:ea typeface="Noto Serif SC" pitchFamily="34" charset="-122"/>
                <a:cs typeface="Noto Serif SC" pitchFamily="34" charset="-120"/>
              </a:rPr>
              <a:t>17-18 ғасырлар аралығында діни философияны алғаш ұсынған және оны пән ретінде дербес зерттеу жүргізген философ Кант болды. Ол барлық адамның білімі сезімдік тәжірибеден басталуы керек деп көрсетті. Құдай туралы түсінік адамның сезімдік тәжірибесі мен идеологиялық түсініктерінен тыс екені сөзсіз, сондықтан адамдардың Құдай туралы қандай да бір білімге ие болуы мүмкін емес деді. Бірақ ол Құдай сияқты діни ұғымдарды тастап кетпеді.Ол оның орнына бұл ұғымдардың теориялық түсінік және идеалдар деп есептеді.Алайда олар адамның моральдық тәжірибесіне үлкен көмегін тигізді және дін жеке адамгершілікті көтере алады.</a:t>
            </a:r>
            <a:endParaRPr lang="en-US" sz="15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29425" y="3090863"/>
            <a:ext cx="1900238" cy="1233488"/>
          </a:xfrm>
          <a:prstGeom prst="rect">
            <a:avLst/>
          </a:prstGeom>
          <a:noFill/>
          <a:ln/>
        </p:spPr>
        <p:txBody>
          <a:bodyPr wrap="square" rtlCol="0" anchor="ctr"/>
          <a:lstStyle/>
          <a:p>
            <a:pPr indent="0" marL="0">
              <a:buNone/>
            </a:pPr>
            <a:r>
              <a:rPr lang="en-US" sz="5760" b="1" dirty="0">
                <a:solidFill>
                  <a:srgbClr val="112629"/>
                </a:solidFill>
                <a:latin typeface="Noto Serif SC" pitchFamily="34" charset="0"/>
                <a:ea typeface="Noto Serif SC" pitchFamily="34" charset="-122"/>
                <a:cs typeface="Noto Serif SC" pitchFamily="34" charset="-120"/>
              </a:rPr>
              <a:t>04</a:t>
            </a:r>
            <a:endParaRPr lang="en-US" sz="5760" dirty="0"/>
          </a:p>
        </p:txBody>
      </p:sp>
      <p:sp>
        <p:nvSpPr>
          <p:cNvPr id="3" name="Text 1"/>
          <p:cNvSpPr/>
          <p:nvPr/>
        </p:nvSpPr>
        <p:spPr>
          <a:xfrm>
            <a:off x="428625" y="1495425"/>
            <a:ext cx="5101590" cy="1652588"/>
          </a:xfrm>
          <a:prstGeom prst="rect">
            <a:avLst/>
          </a:prstGeom>
          <a:noFill/>
          <a:ln/>
        </p:spPr>
        <p:txBody>
          <a:bodyPr wrap="square" rtlCol="0" anchor="t"/>
          <a:lstStyle/>
          <a:p>
            <a:pPr indent="0" marL="0">
              <a:buNone/>
            </a:pPr>
            <a:r>
              <a:rPr lang="en-US" sz="3500" b="1" dirty="0">
                <a:solidFill>
                  <a:srgbClr val="000000"/>
                </a:solidFill>
                <a:latin typeface="Noto Serif SC" pitchFamily="34" charset="0"/>
                <a:ea typeface="Noto Serif SC" pitchFamily="34" charset="-122"/>
                <a:cs typeface="Noto Serif SC" pitchFamily="34" charset="-120"/>
              </a:rPr>
              <a:t>4.Қортынды</a:t>
            </a:r>
            <a:endParaRPr lang="en-US" sz="3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62000" y="776288"/>
            <a:ext cx="7806690" cy="2143"/>
          </a:xfrm>
          <a:prstGeom prst="rect">
            <a:avLst/>
          </a:prstGeom>
          <a:solidFill>
            <a:srgbClr val="112629"/>
          </a:solidFill>
          <a:ln/>
        </p:spPr>
      </p:sp>
      <p:sp>
        <p:nvSpPr>
          <p:cNvPr id="3" name="Text 1"/>
          <p:cNvSpPr/>
          <p:nvPr/>
        </p:nvSpPr>
        <p:spPr>
          <a:xfrm>
            <a:off x="762000" y="228600"/>
            <a:ext cx="7806690" cy="547688"/>
          </a:xfrm>
          <a:prstGeom prst="rect">
            <a:avLst/>
          </a:prstGeom>
          <a:noFill/>
          <a:ln/>
        </p:spPr>
        <p:txBody>
          <a:bodyPr wrap="square" rtlCol="0" anchor="ctr"/>
          <a:lstStyle/>
          <a:p>
            <a:pPr indent="0" marL="0">
              <a:buNone/>
            </a:pPr>
            <a:r>
              <a:rPr lang="en-US" sz="2625" b="1" dirty="0">
                <a:solidFill>
                  <a:srgbClr val="112629"/>
                </a:solidFill>
                <a:latin typeface="Noto Serif SC" pitchFamily="34" charset="0"/>
                <a:ea typeface="Noto Serif SC" pitchFamily="34" charset="-122"/>
                <a:cs typeface="Noto Serif SC" pitchFamily="34" charset="-120"/>
              </a:rPr>
              <a:t>4.Қортынды</a:t>
            </a:r>
            <a:endParaRPr lang="en-US" sz="2625" dirty="0"/>
          </a:p>
        </p:txBody>
      </p:sp>
      <p:sp>
        <p:nvSpPr>
          <p:cNvPr id="4" name="Text 2"/>
          <p:cNvSpPr/>
          <p:nvPr/>
        </p:nvSpPr>
        <p:spPr>
          <a:xfrm>
            <a:off x="762000" y="1209675"/>
            <a:ext cx="7715250" cy="3548063"/>
          </a:xfrm>
          <a:prstGeom prst="rect">
            <a:avLst/>
          </a:prstGeom>
          <a:noFill/>
          <a:ln/>
        </p:spPr>
        <p:txBody>
          <a:bodyPr wrap="square" rtlCol="0" anchor="t"/>
          <a:lstStyle/>
          <a:p>
            <a:pPr algn="l" marL="342900" indent="-342900">
              <a:lnSpc>
                <a:spcPct val="150000"/>
              </a:lnSpc>
              <a:buSzPct val="100000"/>
              <a:buChar char="•"/>
            </a:pPr>
            <a:r>
              <a:rPr lang="en-US" sz="1680" dirty="0">
                <a:solidFill>
                  <a:srgbClr val="000000"/>
                </a:solidFill>
                <a:latin typeface="Noto Serif SC" pitchFamily="34" charset="0"/>
                <a:ea typeface="Noto Serif SC" pitchFamily="34" charset="-122"/>
                <a:cs typeface="Noto Serif SC" pitchFamily="34" charset="-120"/>
              </a:rPr>
              <a:t>Дін философиясы, аты айтып тұрғандай, дін мен философияның өзара әрекеттесуінің тарихи жемісі. Бірақ дін - иррационалды сенім, ал философия - рационалды алыпсатарлық әрекет. Шын мәнінде, діни философия діни ілімдерді көрсету және негізгі діни мәселелерді ұтымды зерделеу үшін философиялық көзқарастар мен концептуалды түсініктерді пайдалануды білдіреді, мысалы, мәні, нормалары, дүниетанымы, моральдық құндылықтар, діни тіл, діни символдық мағына және т.б.</a:t>
            </a: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2871788" y="1828800"/>
            <a:ext cx="3395663" cy="547688"/>
          </a:xfrm>
          <a:prstGeom prst="rect">
            <a:avLst/>
          </a:prstGeom>
          <a:noFill/>
          <a:ln/>
        </p:spPr>
        <p:txBody>
          <a:bodyPr wrap="square" rtlCol="0" anchor="t"/>
          <a:lstStyle/>
          <a:p>
            <a:pPr algn="ctr" indent="0" marL="0">
              <a:buNone/>
            </a:pPr>
            <a:r>
              <a:rPr lang="en-US" sz="2560" b="1" dirty="0">
                <a:solidFill>
                  <a:srgbClr val="000000"/>
                </a:solidFill>
                <a:latin typeface="Noto Serif SC" pitchFamily="34" charset="0"/>
                <a:ea typeface="Noto Serif SC" pitchFamily="34" charset="-122"/>
                <a:cs typeface="Noto Serif SC" pitchFamily="34" charset="-120"/>
              </a:rPr>
              <a:t>THE END</a:t>
            </a:r>
            <a:endParaRPr lang="en-US" sz="2560" dirty="0"/>
          </a:p>
        </p:txBody>
      </p:sp>
      <p:sp>
        <p:nvSpPr>
          <p:cNvPr id="3" name="Text 1"/>
          <p:cNvSpPr/>
          <p:nvPr/>
        </p:nvSpPr>
        <p:spPr>
          <a:xfrm>
            <a:off x="2871788" y="2571750"/>
            <a:ext cx="3395663" cy="1028700"/>
          </a:xfrm>
          <a:prstGeom prst="rect">
            <a:avLst/>
          </a:prstGeom>
          <a:noFill/>
          <a:ln/>
        </p:spPr>
        <p:txBody>
          <a:bodyPr wrap="square" rtlCol="0" anchor="t"/>
          <a:lstStyle/>
          <a:p>
            <a:pPr algn="ctr" indent="0" marL="0">
              <a:buNone/>
            </a:pPr>
            <a:r>
              <a:rPr lang="en-US" sz="4800" b="1" dirty="0">
                <a:solidFill>
                  <a:srgbClr val="FFFFFF"/>
                </a:solidFill>
                <a:latin typeface="Noto Serif SC" pitchFamily="34" charset="0"/>
                <a:ea typeface="Noto Serif SC" pitchFamily="34" charset="-122"/>
                <a:cs typeface="Noto Serif SC" pitchFamily="34" charset="-120"/>
              </a:rPr>
              <a:t>THANKS</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Дін философиясы</dc:title>
  <dc:subject/>
  <dc:creator/>
  <cp:lastModifiedBy/>
  <cp:revision>1</cp:revision>
  <dcterms:created xsi:type="dcterms:W3CDTF">2023-12-07T08:37:46Z</dcterms:created>
  <dcterms:modified xsi:type="dcterms:W3CDTF">2023-12-07T08:37:46Z</dcterms:modified>
</cp:coreProperties>
</file>