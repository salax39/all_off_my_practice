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yellow_pixel_vplus_20230307/Cover-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yellow_pixel_vplus_20230307/Catalog-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yellow_pixel_vplus_20230307/Session-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yellow_pixel_vplus_20230307/Content-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yellow_pixel_vplus_20230307/End-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7225" y="871538"/>
            <a:ext cx="4391978" cy="1333500"/>
          </a:xfrm>
          <a:prstGeom prst="rect">
            <a:avLst/>
          </a:prstGeom>
          <a:noFill/>
          <a:ln/>
        </p:spPr>
        <p:txBody>
          <a:bodyPr wrap="square" rtlCol="0" anchor="b"/>
          <a:lstStyle/>
          <a:p>
            <a:pPr indent="0" marL="0">
              <a:buNone/>
            </a:pPr>
            <a:r>
              <a:rPr lang="en-US" sz="2944" b="1" dirty="0">
                <a:solidFill>
                  <a:srgbClr val="FFFFFF"/>
                </a:solidFill>
                <a:latin typeface="ZCOOL QingKe HuangYou" pitchFamily="34" charset="0"/>
                <a:ea typeface="ZCOOL QingKe HuangYou" pitchFamily="34" charset="-122"/>
                <a:cs typeface="ZCOOL QingKe HuangYou" pitchFamily="34" charset="-120"/>
              </a:rPr>
              <a:t>философиядағы өнер</a:t>
            </a:r>
            <a:endParaRPr lang="en-US" sz="2944" dirty="0"/>
          </a:p>
        </p:txBody>
      </p:sp>
      <p:sp>
        <p:nvSpPr>
          <p:cNvPr id="3" name="Text 1"/>
          <p:cNvSpPr/>
          <p:nvPr/>
        </p:nvSpPr>
        <p:spPr>
          <a:xfrm>
            <a:off x="709613" y="3676650"/>
            <a:ext cx="1943100" cy="381000"/>
          </a:xfrm>
          <a:prstGeom prst="rect">
            <a:avLst/>
          </a:prstGeom>
          <a:noFill/>
          <a:ln/>
        </p:spPr>
        <p:txBody>
          <a:bodyPr wrap="square" rtlCol="0" anchor="t"/>
          <a:lstStyle/>
          <a:p>
            <a:pPr indent="0" marL="0">
              <a:buNone/>
            </a:pPr>
            <a:r>
              <a:rPr lang="en-US" sz="1200" dirty="0">
                <a:solidFill>
                  <a:srgbClr val="FFFFFF"/>
                </a:solidFill>
                <a:latin typeface="Noto Sans SC" pitchFamily="34" charset="0"/>
                <a:ea typeface="Noto Sans SC" pitchFamily="34" charset="-122"/>
                <a:cs typeface="Noto Sans SC" pitchFamily="34" charset="-120"/>
              </a:rPr>
              <a:t>Salauat，Olzhas</a:t>
            </a:r>
            <a:endParaRPr lang="en-US" sz="1200" dirty="0"/>
          </a:p>
          <a:p>
            <a:pPr indent="0" marL="0">
              <a:buNone/>
            </a:pPr>
            <a:r>
              <a:rPr lang="en-US" sz="1200" dirty="0">
                <a:solidFill>
                  <a:srgbClr val="FFFFFF"/>
                </a:solidFill>
                <a:latin typeface="Noto Sans SC" pitchFamily="34" charset="0"/>
                <a:ea typeface="Noto Sans SC" pitchFamily="34" charset="-122"/>
                <a:cs typeface="Noto Sans SC" pitchFamily="34" charset="-120"/>
              </a:rPr>
              <a:t>2023-11-02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14425" y="738188"/>
            <a:ext cx="4033838" cy="571500"/>
          </a:xfrm>
          <a:prstGeom prst="rect">
            <a:avLst/>
          </a:prstGeom>
          <a:noFill/>
          <a:ln/>
        </p:spPr>
        <p:txBody>
          <a:bodyPr wrap="square" rtlCol="0" anchor="ctr"/>
          <a:lstStyle/>
          <a:p>
            <a:pPr indent="0" marL="0">
              <a:buNone/>
            </a:pPr>
            <a:r>
              <a:rPr lang="en-US" sz="3600" dirty="0">
                <a:solidFill>
                  <a:srgbClr val="FFFFFF"/>
                </a:solidFill>
                <a:latin typeface="ZCOOL QingKe HuangYou" pitchFamily="34" charset="0"/>
                <a:ea typeface="ZCOOL QingKe HuangYou" pitchFamily="34" charset="-122"/>
                <a:cs typeface="ZCOOL QingKe HuangYou" pitchFamily="34" charset="-120"/>
              </a:rPr>
              <a:t> CONTENTS </a:t>
            </a:r>
            <a:endParaRPr lang="en-US" sz="3600" dirty="0"/>
          </a:p>
        </p:txBody>
      </p:sp>
      <p:sp>
        <p:nvSpPr>
          <p:cNvPr id="3" name="Text 1"/>
          <p:cNvSpPr/>
          <p:nvPr/>
        </p:nvSpPr>
        <p:spPr>
          <a:xfrm>
            <a:off x="1171575" y="1657350"/>
            <a:ext cx="5281613" cy="2700338"/>
          </a:xfrm>
          <a:prstGeom prst="rect">
            <a:avLst/>
          </a:prstGeom>
          <a:noFill/>
          <a:ln/>
        </p:spPr>
        <p:txBody>
          <a:bodyPr wrap="square" rtlCol="0" anchor="t"/>
          <a:lstStyle/>
          <a:p>
            <a:pPr algn="l" marL="342900" indent="-342900">
              <a:lnSpc>
                <a:spcPct val="150000"/>
              </a:lnSpc>
              <a:buSzPct val="100000"/>
              <a:buChar char="•"/>
            </a:pPr>
            <a:r>
              <a:rPr lang="en-US" sz="1280" dirty="0">
                <a:solidFill>
                  <a:srgbClr val="FFFFFF"/>
                </a:solidFill>
                <a:latin typeface="ZCOOL QingKe HuangYou" pitchFamily="34" charset="0"/>
                <a:ea typeface="ZCOOL QingKe HuangYou" pitchFamily="34" charset="-122"/>
                <a:cs typeface="ZCOOL QingKe HuangYou" pitchFamily="34" charset="-120"/>
              </a:rPr>
              <a:t>философиядағы өнер</a:t>
            </a:r>
            <a:endParaRPr lang="en-US" sz="1280" dirty="0"/>
          </a:p>
          <a:p>
            <a:pPr algn="l" marL="342900" indent="-342900">
              <a:lnSpc>
                <a:spcPct val="150000"/>
              </a:lnSpc>
              <a:buSzPct val="100000"/>
              <a:buChar char="•"/>
            </a:pPr>
            <a:r>
              <a:rPr lang="en-US" sz="1280" dirty="0">
                <a:solidFill>
                  <a:srgbClr val="FFFFFF"/>
                </a:solidFill>
                <a:latin typeface="ZCOOL QingKe HuangYou" pitchFamily="34" charset="0"/>
                <a:ea typeface="ZCOOL QingKe HuangYou" pitchFamily="34" charset="-122"/>
                <a:cs typeface="ZCOOL QingKe HuangYou" pitchFamily="34" charset="-120"/>
              </a:rPr>
              <a:t>1. эстетикалық философия</a:t>
            </a:r>
            <a:endParaRPr lang="en-US" sz="1280" dirty="0"/>
          </a:p>
          <a:p>
            <a:pPr algn="l" marL="342900" indent="-342900">
              <a:lnSpc>
                <a:spcPct val="150000"/>
              </a:lnSpc>
              <a:buSzPct val="100000"/>
              <a:buChar char="•"/>
            </a:pPr>
            <a:r>
              <a:rPr lang="en-US" sz="1280" dirty="0">
                <a:solidFill>
                  <a:srgbClr val="FFFFFF"/>
                </a:solidFill>
                <a:latin typeface="ZCOOL QingKe HuangYou" pitchFamily="34" charset="0"/>
                <a:ea typeface="ZCOOL QingKe HuangYou" pitchFamily="34" charset="-122"/>
                <a:cs typeface="ZCOOL QingKe HuangYou" pitchFamily="34" charset="-120"/>
              </a:rPr>
              <a:t>2. өнер философиясы</a:t>
            </a:r>
            <a:endParaRPr lang="en-US" sz="1280" dirty="0"/>
          </a:p>
          <a:p>
            <a:pPr algn="l" marL="342900" indent="-342900">
              <a:lnSpc>
                <a:spcPct val="150000"/>
              </a:lnSpc>
              <a:buSzPct val="100000"/>
              <a:buChar char="•"/>
            </a:pPr>
            <a:r>
              <a:rPr lang="en-US" sz="1280" dirty="0">
                <a:solidFill>
                  <a:srgbClr val="FFFFFF"/>
                </a:solidFill>
                <a:latin typeface="ZCOOL QingKe HuangYou" pitchFamily="34" charset="0"/>
                <a:ea typeface="ZCOOL QingKe HuangYou" pitchFamily="34" charset="-122"/>
                <a:cs typeface="ZCOOL QingKe HuangYou" pitchFamily="34" charset="-120"/>
              </a:rPr>
              <a:t>3. сұлулық пен ұсқынсыздық</a:t>
            </a:r>
            <a:endParaRPr lang="en-US" sz="1280" dirty="0"/>
          </a:p>
          <a:p>
            <a:pPr algn="l" marL="342900" indent="-342900">
              <a:lnSpc>
                <a:spcPct val="150000"/>
              </a:lnSpc>
              <a:buSzPct val="100000"/>
              <a:buChar char="•"/>
            </a:pPr>
            <a:r>
              <a:rPr lang="en-US" sz="1280" dirty="0">
                <a:solidFill>
                  <a:srgbClr val="FFFFFF"/>
                </a:solidFill>
                <a:latin typeface="ZCOOL QingKe HuangYou" pitchFamily="34" charset="0"/>
                <a:ea typeface="ZCOOL QingKe HuangYou" pitchFamily="34" charset="-122"/>
                <a:cs typeface="ZCOOL QingKe HuangYou" pitchFamily="34" charset="-120"/>
              </a:rPr>
              <a:t>4. өнердің мақсаты</a:t>
            </a:r>
            <a:endParaRPr lang="en-US" sz="1280" dirty="0"/>
          </a:p>
          <a:p>
            <a:pPr algn="l" marL="342900" indent="-342900">
              <a:lnSpc>
                <a:spcPct val="150000"/>
              </a:lnSpc>
              <a:buSzPct val="100000"/>
              <a:buChar char="•"/>
            </a:pPr>
            <a:r>
              <a:rPr lang="en-US" sz="1280" dirty="0">
                <a:solidFill>
                  <a:srgbClr val="FFFFFF"/>
                </a:solidFill>
                <a:latin typeface="ZCOOL QingKe HuangYou" pitchFamily="34" charset="0"/>
                <a:ea typeface="ZCOOL QingKe HuangYou" pitchFamily="34" charset="-122"/>
                <a:cs typeface="ZCOOL QingKe HuangYou" pitchFamily="34" charset="-120"/>
              </a:rPr>
              <a:t>5. Өнер түрлері мен медиа</a:t>
            </a:r>
            <a:endParaRPr lang="en-US" sz="1280" dirty="0"/>
          </a:p>
          <a:p>
            <a:pPr algn="l" marL="342900" indent="-342900">
              <a:lnSpc>
                <a:spcPct val="150000"/>
              </a:lnSpc>
              <a:buSzPct val="100000"/>
              <a:buChar char="•"/>
            </a:pPr>
            <a:r>
              <a:rPr lang="en-US" sz="1280" dirty="0">
                <a:solidFill>
                  <a:srgbClr val="FFFFFF"/>
                </a:solidFill>
                <a:latin typeface="ZCOOL QingKe HuangYou" pitchFamily="34" charset="0"/>
                <a:ea typeface="ZCOOL QingKe HuangYou" pitchFamily="34" charset="-122"/>
                <a:cs typeface="ZCOOL QingKe HuangYou" pitchFamily="34" charset="-120"/>
              </a:rPr>
              <a:t>Қорытындылау</a:t>
            </a:r>
            <a:endParaRPr lang="en-US" sz="12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105025" y="1119188"/>
            <a:ext cx="1452563" cy="857250"/>
          </a:xfrm>
          <a:prstGeom prst="rect">
            <a:avLst/>
          </a:prstGeom>
          <a:noFill/>
          <a:ln/>
        </p:spPr>
        <p:txBody>
          <a:bodyPr wrap="square" rtlCol="0" anchor="t"/>
          <a:lstStyle/>
          <a:p>
            <a:pPr indent="0" marL="0">
              <a:buNone/>
            </a:pPr>
            <a:r>
              <a:rPr lang="en-US" sz="5400" dirty="0">
                <a:solidFill>
                  <a:srgbClr val="FFFFFF"/>
                </a:solidFill>
                <a:latin typeface="ZCOOL QingKe HuangYou" pitchFamily="34" charset="0"/>
                <a:ea typeface="ZCOOL QingKe HuangYou" pitchFamily="34" charset="-122"/>
                <a:cs typeface="ZCOOL QingKe HuangYou" pitchFamily="34" charset="-120"/>
              </a:rPr>
              <a:t>01</a:t>
            </a:r>
            <a:endParaRPr lang="en-US" sz="5400" dirty="0"/>
          </a:p>
        </p:txBody>
      </p:sp>
      <p:sp>
        <p:nvSpPr>
          <p:cNvPr id="3" name="Text 1"/>
          <p:cNvSpPr/>
          <p:nvPr/>
        </p:nvSpPr>
        <p:spPr>
          <a:xfrm>
            <a:off x="3886200" y="1209675"/>
            <a:ext cx="4187190" cy="1676400"/>
          </a:xfrm>
          <a:prstGeom prst="rect">
            <a:avLst/>
          </a:prstGeom>
          <a:noFill/>
          <a:ln/>
        </p:spPr>
        <p:txBody>
          <a:bodyPr wrap="square" rtlCol="0" anchor="t"/>
          <a:lstStyle/>
          <a:p>
            <a:pPr indent="0" marL="0">
              <a:buNone/>
            </a:pPr>
            <a:r>
              <a:rPr lang="en-US" sz="3712" b="1" dirty="0">
                <a:solidFill>
                  <a:srgbClr val="FFFFFF"/>
                </a:solidFill>
                <a:latin typeface="ZCOOL QingKe HuangYou" pitchFamily="34" charset="0"/>
                <a:ea typeface="ZCOOL QingKe HuangYou" pitchFamily="34" charset="-122"/>
                <a:cs typeface="ZCOOL QingKe HuangYou" pitchFamily="34" charset="-120"/>
              </a:rPr>
              <a:t>1. эстетикалық философия</a:t>
            </a:r>
            <a:endParaRPr lang="en-US" sz="371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62000" y="781050"/>
            <a:ext cx="7806690" cy="2143"/>
          </a:xfrm>
          <a:prstGeom prst="rect">
            <a:avLst/>
          </a:prstGeom>
          <a:solidFill>
            <a:srgbClr val="FFFFFF"/>
          </a:solidFill>
          <a:ln/>
        </p:spPr>
      </p:sp>
      <p:sp>
        <p:nvSpPr>
          <p:cNvPr id="3" name="Text 1"/>
          <p:cNvSpPr/>
          <p:nvPr/>
        </p:nvSpPr>
        <p:spPr>
          <a:xfrm>
            <a:off x="762000" y="228600"/>
            <a:ext cx="7806690" cy="552450"/>
          </a:xfrm>
          <a:prstGeom prst="rect">
            <a:avLst/>
          </a:prstGeom>
          <a:noFill/>
          <a:ln/>
        </p:spPr>
        <p:txBody>
          <a:bodyPr wrap="square" rtlCol="0" anchor="ctr"/>
          <a:lstStyle/>
          <a:p>
            <a:pPr indent="0" marL="0">
              <a:buNone/>
            </a:pPr>
            <a:r>
              <a:rPr lang="en-US" sz="2400" b="1" dirty="0">
                <a:solidFill>
                  <a:srgbClr val="FFFFFF"/>
                </a:solidFill>
                <a:latin typeface="ZCOOL QingKe HuangYou" pitchFamily="34" charset="0"/>
                <a:ea typeface="ZCOOL QingKe HuangYou" pitchFamily="34" charset="-122"/>
                <a:cs typeface="ZCOOL QingKe HuangYou" pitchFamily="34" charset="-120"/>
              </a:rPr>
              <a:t>1. эстетикалық философия</a:t>
            </a:r>
            <a:endParaRPr lang="en-US" sz="2400" dirty="0"/>
          </a:p>
        </p:txBody>
      </p:sp>
      <p:sp>
        <p:nvSpPr>
          <p:cNvPr id="4" name="Text 2"/>
          <p:cNvSpPr/>
          <p:nvPr/>
        </p:nvSpPr>
        <p:spPr>
          <a:xfrm>
            <a:off x="762000" y="1304925"/>
            <a:ext cx="7715250" cy="1371600"/>
          </a:xfrm>
          <a:prstGeom prst="rect">
            <a:avLst/>
          </a:prstGeom>
          <a:noFill/>
          <a:ln/>
        </p:spPr>
        <p:txBody>
          <a:bodyPr wrap="square" rtlCol="0" anchor="t"/>
          <a:lstStyle/>
          <a:p>
            <a:pPr algn="l" marL="342900" indent="-342900">
              <a:lnSpc>
                <a:spcPct val="150000"/>
              </a:lnSpc>
              <a:buSzPct val="100000"/>
              <a:buChar char="•"/>
            </a:pPr>
            <a:r>
              <a:rPr lang="en-US" sz="1536" dirty="0">
                <a:solidFill>
                  <a:srgbClr val="FFFFFF"/>
                </a:solidFill>
                <a:latin typeface="Noto Sans SC" pitchFamily="34" charset="0"/>
                <a:ea typeface="Noto Sans SC" pitchFamily="34" charset="-122"/>
                <a:cs typeface="Noto Sans SC" pitchFamily="34" charset="-120"/>
              </a:rPr>
              <a:t> Эстетика – сұлулық пен өнерді зерттейтін философияның бір саласы. Ол сұлулықтың табиғатын, эстетикалық тәжірибені, өнер туындыларының құндылығын және сұлулықтың философиялық негіздерін зерттейді.</a:t>
            </a:r>
            <a:endParaRPr lang="en-US" sz="153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105025" y="1119188"/>
            <a:ext cx="1452563" cy="857250"/>
          </a:xfrm>
          <a:prstGeom prst="rect">
            <a:avLst/>
          </a:prstGeom>
          <a:noFill/>
          <a:ln/>
        </p:spPr>
        <p:txBody>
          <a:bodyPr wrap="square" rtlCol="0" anchor="t"/>
          <a:lstStyle/>
          <a:p>
            <a:pPr indent="0" marL="0">
              <a:buNone/>
            </a:pPr>
            <a:r>
              <a:rPr lang="en-US" sz="5400" dirty="0">
                <a:solidFill>
                  <a:srgbClr val="FFFFFF"/>
                </a:solidFill>
                <a:latin typeface="ZCOOL QingKe HuangYou" pitchFamily="34" charset="0"/>
                <a:ea typeface="ZCOOL QingKe HuangYou" pitchFamily="34" charset="-122"/>
                <a:cs typeface="ZCOOL QingKe HuangYou" pitchFamily="34" charset="-120"/>
              </a:rPr>
              <a:t>02</a:t>
            </a:r>
            <a:endParaRPr lang="en-US" sz="5400" dirty="0"/>
          </a:p>
        </p:txBody>
      </p:sp>
      <p:sp>
        <p:nvSpPr>
          <p:cNvPr id="3" name="Text 1"/>
          <p:cNvSpPr/>
          <p:nvPr/>
        </p:nvSpPr>
        <p:spPr>
          <a:xfrm>
            <a:off x="3886200" y="1209675"/>
            <a:ext cx="4187190" cy="1676400"/>
          </a:xfrm>
          <a:prstGeom prst="rect">
            <a:avLst/>
          </a:prstGeom>
          <a:noFill/>
          <a:ln/>
        </p:spPr>
        <p:txBody>
          <a:bodyPr wrap="square" rtlCol="0" anchor="t"/>
          <a:lstStyle/>
          <a:p>
            <a:pPr indent="0" marL="0">
              <a:buNone/>
            </a:pPr>
            <a:r>
              <a:rPr lang="en-US" sz="3648" b="1" dirty="0">
                <a:solidFill>
                  <a:srgbClr val="FFFFFF"/>
                </a:solidFill>
                <a:latin typeface="ZCOOL QingKe HuangYou" pitchFamily="34" charset="0"/>
                <a:ea typeface="ZCOOL QingKe HuangYou" pitchFamily="34" charset="-122"/>
                <a:cs typeface="ZCOOL QingKe HuangYou" pitchFamily="34" charset="-120"/>
              </a:rPr>
              <a:t>2. өнер философиясы</a:t>
            </a:r>
            <a:endParaRPr lang="en-US" sz="364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62000" y="781050"/>
            <a:ext cx="7806690" cy="2143"/>
          </a:xfrm>
          <a:prstGeom prst="rect">
            <a:avLst/>
          </a:prstGeom>
          <a:solidFill>
            <a:srgbClr val="FFFFFF"/>
          </a:solidFill>
          <a:ln/>
        </p:spPr>
      </p:sp>
      <p:sp>
        <p:nvSpPr>
          <p:cNvPr id="3" name="Text 1"/>
          <p:cNvSpPr/>
          <p:nvPr/>
        </p:nvSpPr>
        <p:spPr>
          <a:xfrm>
            <a:off x="762000" y="228600"/>
            <a:ext cx="7806690" cy="552450"/>
          </a:xfrm>
          <a:prstGeom prst="rect">
            <a:avLst/>
          </a:prstGeom>
          <a:noFill/>
          <a:ln/>
        </p:spPr>
        <p:txBody>
          <a:bodyPr wrap="square" rtlCol="0" anchor="ctr"/>
          <a:lstStyle/>
          <a:p>
            <a:pPr indent="0" marL="0">
              <a:buNone/>
            </a:pPr>
            <a:r>
              <a:rPr lang="en-US" sz="2400" b="1" dirty="0">
                <a:solidFill>
                  <a:srgbClr val="FFFFFF"/>
                </a:solidFill>
                <a:latin typeface="ZCOOL QingKe HuangYou" pitchFamily="34" charset="0"/>
                <a:ea typeface="ZCOOL QingKe HuangYou" pitchFamily="34" charset="-122"/>
                <a:cs typeface="ZCOOL QingKe HuangYou" pitchFamily="34" charset="-120"/>
              </a:rPr>
              <a:t>2. өнер философиясы</a:t>
            </a:r>
            <a:endParaRPr lang="en-US" sz="2400" dirty="0"/>
          </a:p>
        </p:txBody>
      </p:sp>
      <p:sp>
        <p:nvSpPr>
          <p:cNvPr id="4" name="Text 2"/>
          <p:cNvSpPr/>
          <p:nvPr/>
        </p:nvSpPr>
        <p:spPr>
          <a:xfrm>
            <a:off x="762000" y="1304925"/>
            <a:ext cx="7715250" cy="1371600"/>
          </a:xfrm>
          <a:prstGeom prst="rect">
            <a:avLst/>
          </a:prstGeom>
          <a:noFill/>
          <a:ln/>
        </p:spPr>
        <p:txBody>
          <a:bodyPr wrap="square" rtlCol="0" anchor="t"/>
          <a:lstStyle/>
          <a:p>
            <a:pPr algn="l" marL="342900" indent="-342900">
              <a:lnSpc>
                <a:spcPct val="150000"/>
              </a:lnSpc>
              <a:buSzPct val="100000"/>
              <a:buChar char="•"/>
            </a:pPr>
            <a:r>
              <a:rPr lang="en-US" sz="1536" dirty="0">
                <a:solidFill>
                  <a:srgbClr val="FFFFFF"/>
                </a:solidFill>
                <a:latin typeface="Noto Sans SC" pitchFamily="34" charset="0"/>
                <a:ea typeface="Noto Sans SC" pitchFamily="34" charset="-122"/>
                <a:cs typeface="Noto Sans SC" pitchFamily="34" charset="-120"/>
              </a:rPr>
              <a:t> Өнер философиясы бейнелеу және қарым-қатынас құралы ретінде өнердің табиғатына қатысты. Ол көркем шығармашылықты, суретшінің рөлін және көркем шығармалардың интерпретациясы мен мағынасын зерттейді.</a:t>
            </a:r>
            <a:endParaRPr lang="en-US" sz="153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105025" y="1119188"/>
            <a:ext cx="1452563" cy="857250"/>
          </a:xfrm>
          <a:prstGeom prst="rect">
            <a:avLst/>
          </a:prstGeom>
          <a:noFill/>
          <a:ln/>
        </p:spPr>
        <p:txBody>
          <a:bodyPr wrap="square" rtlCol="0" anchor="t"/>
          <a:lstStyle/>
          <a:p>
            <a:pPr indent="0" marL="0">
              <a:buNone/>
            </a:pPr>
            <a:r>
              <a:rPr lang="en-US" sz="5400" dirty="0">
                <a:solidFill>
                  <a:srgbClr val="FFFFFF"/>
                </a:solidFill>
                <a:latin typeface="ZCOOL QingKe HuangYou" pitchFamily="34" charset="0"/>
                <a:ea typeface="ZCOOL QingKe HuangYou" pitchFamily="34" charset="-122"/>
                <a:cs typeface="ZCOOL QingKe HuangYou" pitchFamily="34" charset="-120"/>
              </a:rPr>
              <a:t>03</a:t>
            </a:r>
            <a:endParaRPr lang="en-US" sz="5400" dirty="0"/>
          </a:p>
        </p:txBody>
      </p:sp>
      <p:sp>
        <p:nvSpPr>
          <p:cNvPr id="3" name="Text 1"/>
          <p:cNvSpPr/>
          <p:nvPr/>
        </p:nvSpPr>
        <p:spPr>
          <a:xfrm>
            <a:off x="3886200" y="1209675"/>
            <a:ext cx="4187190" cy="1676400"/>
          </a:xfrm>
          <a:prstGeom prst="rect">
            <a:avLst/>
          </a:prstGeom>
          <a:noFill/>
          <a:ln/>
        </p:spPr>
        <p:txBody>
          <a:bodyPr wrap="square" rtlCol="0" anchor="t"/>
          <a:lstStyle/>
          <a:p>
            <a:pPr indent="0" marL="0">
              <a:buNone/>
            </a:pPr>
            <a:r>
              <a:rPr lang="en-US" sz="3712" b="1" dirty="0">
                <a:solidFill>
                  <a:srgbClr val="FFFFFF"/>
                </a:solidFill>
                <a:latin typeface="ZCOOL QingKe HuangYou" pitchFamily="34" charset="0"/>
                <a:ea typeface="ZCOOL QingKe HuangYou" pitchFamily="34" charset="-122"/>
                <a:cs typeface="ZCOOL QingKe HuangYou" pitchFamily="34" charset="-120"/>
              </a:rPr>
              <a:t>3. сұлулық пен ұсқынсыздық</a:t>
            </a:r>
            <a:endParaRPr lang="en-US" sz="371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62000" y="781050"/>
            <a:ext cx="7806690" cy="2143"/>
          </a:xfrm>
          <a:prstGeom prst="rect">
            <a:avLst/>
          </a:prstGeom>
          <a:solidFill>
            <a:srgbClr val="FFFFFF"/>
          </a:solidFill>
          <a:ln/>
        </p:spPr>
      </p:sp>
      <p:sp>
        <p:nvSpPr>
          <p:cNvPr id="3" name="Text 1"/>
          <p:cNvSpPr/>
          <p:nvPr/>
        </p:nvSpPr>
        <p:spPr>
          <a:xfrm>
            <a:off x="762000" y="228600"/>
            <a:ext cx="7806690" cy="552450"/>
          </a:xfrm>
          <a:prstGeom prst="rect">
            <a:avLst/>
          </a:prstGeom>
          <a:noFill/>
          <a:ln/>
        </p:spPr>
        <p:txBody>
          <a:bodyPr wrap="square" rtlCol="0" anchor="ctr"/>
          <a:lstStyle/>
          <a:p>
            <a:pPr indent="0" marL="0">
              <a:buNone/>
            </a:pPr>
            <a:r>
              <a:rPr lang="en-US" sz="2400" b="1" dirty="0">
                <a:solidFill>
                  <a:srgbClr val="FFFFFF"/>
                </a:solidFill>
                <a:latin typeface="ZCOOL QingKe HuangYou" pitchFamily="34" charset="0"/>
                <a:ea typeface="ZCOOL QingKe HuangYou" pitchFamily="34" charset="-122"/>
                <a:cs typeface="ZCOOL QingKe HuangYou" pitchFamily="34" charset="-120"/>
              </a:rPr>
              <a:t>3. сұлулық пен ұсқынсыздық</a:t>
            </a:r>
            <a:endParaRPr lang="en-US" sz="2400" dirty="0"/>
          </a:p>
        </p:txBody>
      </p:sp>
      <p:sp>
        <p:nvSpPr>
          <p:cNvPr id="4" name="Text 2"/>
          <p:cNvSpPr/>
          <p:nvPr/>
        </p:nvSpPr>
        <p:spPr>
          <a:xfrm>
            <a:off x="762000" y="1304925"/>
            <a:ext cx="7715250" cy="1371600"/>
          </a:xfrm>
          <a:prstGeom prst="rect">
            <a:avLst/>
          </a:prstGeom>
          <a:noFill/>
          <a:ln/>
        </p:spPr>
        <p:txBody>
          <a:bodyPr wrap="square" rtlCol="0" anchor="t"/>
          <a:lstStyle/>
          <a:p>
            <a:pPr algn="l" marL="342900" indent="-342900">
              <a:lnSpc>
                <a:spcPct val="150000"/>
              </a:lnSpc>
              <a:buSzPct val="100000"/>
              <a:buChar char="•"/>
            </a:pPr>
            <a:r>
              <a:rPr lang="en-US" sz="1536" dirty="0">
                <a:solidFill>
                  <a:srgbClr val="FFFFFF"/>
                </a:solidFill>
                <a:latin typeface="Noto Sans SC" pitchFamily="34" charset="0"/>
                <a:ea typeface="Noto Sans SC" pitchFamily="34" charset="-122"/>
                <a:cs typeface="Noto Sans SC" pitchFamily="34" charset="-120"/>
              </a:rPr>
              <a:t> Философтар сұлулық пен ұсқынсыздық ұғымдарын талқылап, олардың субъективтілігі мен объективтілігін және олардың мәдениетпен, тарихпен және жеке тәжірибемен байланысын зерттейді.</a:t>
            </a:r>
            <a:endParaRPr lang="en-US" sz="153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105025" y="1119188"/>
            <a:ext cx="1452563" cy="857250"/>
          </a:xfrm>
          <a:prstGeom prst="rect">
            <a:avLst/>
          </a:prstGeom>
          <a:noFill/>
          <a:ln/>
        </p:spPr>
        <p:txBody>
          <a:bodyPr wrap="square" rtlCol="0" anchor="t"/>
          <a:lstStyle/>
          <a:p>
            <a:pPr indent="0" marL="0">
              <a:buNone/>
            </a:pPr>
            <a:r>
              <a:rPr lang="en-US" sz="5400" dirty="0">
                <a:solidFill>
                  <a:srgbClr val="FFFFFF"/>
                </a:solidFill>
                <a:latin typeface="ZCOOL QingKe HuangYou" pitchFamily="34" charset="0"/>
                <a:ea typeface="ZCOOL QingKe HuangYou" pitchFamily="34" charset="-122"/>
                <a:cs typeface="ZCOOL QingKe HuangYou" pitchFamily="34" charset="-120"/>
              </a:rPr>
              <a:t>04</a:t>
            </a:r>
            <a:endParaRPr lang="en-US" sz="5400" dirty="0"/>
          </a:p>
        </p:txBody>
      </p:sp>
      <p:sp>
        <p:nvSpPr>
          <p:cNvPr id="3" name="Text 1"/>
          <p:cNvSpPr/>
          <p:nvPr/>
        </p:nvSpPr>
        <p:spPr>
          <a:xfrm>
            <a:off x="3886200" y="1209675"/>
            <a:ext cx="4187190" cy="1676400"/>
          </a:xfrm>
          <a:prstGeom prst="rect">
            <a:avLst/>
          </a:prstGeom>
          <a:noFill/>
          <a:ln/>
        </p:spPr>
        <p:txBody>
          <a:bodyPr wrap="square" rtlCol="0" anchor="t"/>
          <a:lstStyle/>
          <a:p>
            <a:pPr indent="0" marL="0">
              <a:buNone/>
            </a:pPr>
            <a:r>
              <a:rPr lang="en-US" sz="3712" b="1" dirty="0">
                <a:solidFill>
                  <a:srgbClr val="FFFFFF"/>
                </a:solidFill>
                <a:latin typeface="ZCOOL QingKe HuangYou" pitchFamily="34" charset="0"/>
                <a:ea typeface="ZCOOL QingKe HuangYou" pitchFamily="34" charset="-122"/>
                <a:cs typeface="ZCOOL QingKe HuangYou" pitchFamily="34" charset="-120"/>
              </a:rPr>
              <a:t>4. өнердің мақсаты</a:t>
            </a:r>
            <a:endParaRPr lang="en-US" sz="371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2000" y="781050"/>
            <a:ext cx="7806690" cy="2143"/>
          </a:xfrm>
          <a:prstGeom prst="rect">
            <a:avLst/>
          </a:prstGeom>
          <a:solidFill>
            <a:srgbClr val="FFFFFF"/>
          </a:solidFill>
          <a:ln/>
        </p:spPr>
      </p:sp>
      <p:sp>
        <p:nvSpPr>
          <p:cNvPr id="3" name="Text 1"/>
          <p:cNvSpPr/>
          <p:nvPr/>
        </p:nvSpPr>
        <p:spPr>
          <a:xfrm>
            <a:off x="762000" y="228600"/>
            <a:ext cx="7806690" cy="552450"/>
          </a:xfrm>
          <a:prstGeom prst="rect">
            <a:avLst/>
          </a:prstGeom>
          <a:noFill/>
          <a:ln/>
        </p:spPr>
        <p:txBody>
          <a:bodyPr wrap="square" rtlCol="0" anchor="ctr"/>
          <a:lstStyle/>
          <a:p>
            <a:pPr indent="0" marL="0">
              <a:buNone/>
            </a:pPr>
            <a:r>
              <a:rPr lang="en-US" sz="2400" b="1" dirty="0">
                <a:solidFill>
                  <a:srgbClr val="FFFFFF"/>
                </a:solidFill>
                <a:latin typeface="ZCOOL QingKe HuangYou" pitchFamily="34" charset="0"/>
                <a:ea typeface="ZCOOL QingKe HuangYou" pitchFamily="34" charset="-122"/>
                <a:cs typeface="ZCOOL QingKe HuangYou" pitchFamily="34" charset="-120"/>
              </a:rPr>
              <a:t>4. өнердің мақсаты</a:t>
            </a:r>
            <a:endParaRPr lang="en-US" sz="2400" dirty="0"/>
          </a:p>
        </p:txBody>
      </p:sp>
      <p:sp>
        <p:nvSpPr>
          <p:cNvPr id="4" name="Text 2"/>
          <p:cNvSpPr/>
          <p:nvPr/>
        </p:nvSpPr>
        <p:spPr>
          <a:xfrm>
            <a:off x="762000" y="1304925"/>
            <a:ext cx="7715250" cy="1371600"/>
          </a:xfrm>
          <a:prstGeom prst="rect">
            <a:avLst/>
          </a:prstGeom>
          <a:noFill/>
          <a:ln/>
        </p:spPr>
        <p:txBody>
          <a:bodyPr wrap="square" rtlCol="0" anchor="t"/>
          <a:lstStyle/>
          <a:p>
            <a:pPr algn="l" marL="342900" indent="-342900">
              <a:lnSpc>
                <a:spcPct val="150000"/>
              </a:lnSpc>
              <a:buSzPct val="100000"/>
              <a:buChar char="•"/>
            </a:pPr>
            <a:r>
              <a:rPr lang="en-US" sz="1536" dirty="0">
                <a:solidFill>
                  <a:srgbClr val="FFFFFF"/>
                </a:solidFill>
                <a:latin typeface="Noto Sans SC" pitchFamily="34" charset="0"/>
                <a:ea typeface="Noto Sans SC" pitchFamily="34" charset="-122"/>
                <a:cs typeface="Noto Sans SC" pitchFamily="34" charset="-120"/>
              </a:rPr>
              <a:t> Философтар өнердің мақсаты не екенін талқылайды. Біреулер өнердің мақсаты сезімді білдіру деп есептесе, біреулер ойды жеткізу деп есептесе, енді біреулер оның мақсаты сұлулықты көрсету деп есептейді.</a:t>
            </a:r>
            <a:endParaRPr lang="en-US" sz="153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105025" y="1119188"/>
            <a:ext cx="1452563" cy="857250"/>
          </a:xfrm>
          <a:prstGeom prst="rect">
            <a:avLst/>
          </a:prstGeom>
          <a:noFill/>
          <a:ln/>
        </p:spPr>
        <p:txBody>
          <a:bodyPr wrap="square" rtlCol="0" anchor="t"/>
          <a:lstStyle/>
          <a:p>
            <a:pPr indent="0" marL="0">
              <a:buNone/>
            </a:pPr>
            <a:r>
              <a:rPr lang="en-US" sz="5400" dirty="0">
                <a:solidFill>
                  <a:srgbClr val="FFFFFF"/>
                </a:solidFill>
                <a:latin typeface="ZCOOL QingKe HuangYou" pitchFamily="34" charset="0"/>
                <a:ea typeface="ZCOOL QingKe HuangYou" pitchFamily="34" charset="-122"/>
                <a:cs typeface="ZCOOL QingKe HuangYou" pitchFamily="34" charset="-120"/>
              </a:rPr>
              <a:t>05</a:t>
            </a:r>
            <a:endParaRPr lang="en-US" sz="5400" dirty="0"/>
          </a:p>
        </p:txBody>
      </p:sp>
      <p:sp>
        <p:nvSpPr>
          <p:cNvPr id="3" name="Text 1"/>
          <p:cNvSpPr/>
          <p:nvPr/>
        </p:nvSpPr>
        <p:spPr>
          <a:xfrm>
            <a:off x="3886200" y="1209675"/>
            <a:ext cx="4187190" cy="1676400"/>
          </a:xfrm>
          <a:prstGeom prst="rect">
            <a:avLst/>
          </a:prstGeom>
          <a:noFill/>
          <a:ln/>
        </p:spPr>
        <p:txBody>
          <a:bodyPr wrap="square" rtlCol="0" anchor="t"/>
          <a:lstStyle/>
          <a:p>
            <a:pPr indent="0" marL="0">
              <a:buNone/>
            </a:pPr>
            <a:r>
              <a:rPr lang="en-US" sz="3584" b="1" dirty="0">
                <a:solidFill>
                  <a:srgbClr val="FFFFFF"/>
                </a:solidFill>
                <a:latin typeface="ZCOOL QingKe HuangYou" pitchFamily="34" charset="0"/>
                <a:ea typeface="ZCOOL QingKe HuangYou" pitchFamily="34" charset="-122"/>
                <a:cs typeface="ZCOOL QingKe HuangYou" pitchFamily="34" charset="-120"/>
              </a:rPr>
              <a:t>5. Өнер түрлері мен медиа</a:t>
            </a:r>
            <a:endParaRPr lang="en-US" sz="358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62000" y="781050"/>
            <a:ext cx="7806690" cy="2143"/>
          </a:xfrm>
          <a:prstGeom prst="rect">
            <a:avLst/>
          </a:prstGeom>
          <a:solidFill>
            <a:srgbClr val="FFFFFF"/>
          </a:solidFill>
          <a:ln/>
        </p:spPr>
      </p:sp>
      <p:sp>
        <p:nvSpPr>
          <p:cNvPr id="3" name="Text 1"/>
          <p:cNvSpPr/>
          <p:nvPr/>
        </p:nvSpPr>
        <p:spPr>
          <a:xfrm>
            <a:off x="762000" y="228600"/>
            <a:ext cx="7806690" cy="552450"/>
          </a:xfrm>
          <a:prstGeom prst="rect">
            <a:avLst/>
          </a:prstGeom>
          <a:noFill/>
          <a:ln/>
        </p:spPr>
        <p:txBody>
          <a:bodyPr wrap="square" rtlCol="0" anchor="ctr"/>
          <a:lstStyle/>
          <a:p>
            <a:pPr indent="0" marL="0">
              <a:buNone/>
            </a:pPr>
            <a:r>
              <a:rPr lang="en-US" sz="2400" b="1" dirty="0">
                <a:solidFill>
                  <a:srgbClr val="FFFFFF"/>
                </a:solidFill>
                <a:latin typeface="ZCOOL QingKe HuangYou" pitchFamily="34" charset="0"/>
                <a:ea typeface="ZCOOL QingKe HuangYou" pitchFamily="34" charset="-122"/>
                <a:cs typeface="ZCOOL QingKe HuangYou" pitchFamily="34" charset="-120"/>
              </a:rPr>
              <a:t>5. Өнер түрлері мен медиа</a:t>
            </a:r>
            <a:endParaRPr lang="en-US" sz="2400" dirty="0"/>
          </a:p>
        </p:txBody>
      </p:sp>
      <p:sp>
        <p:nvSpPr>
          <p:cNvPr id="4" name="Text 2"/>
          <p:cNvSpPr/>
          <p:nvPr/>
        </p:nvSpPr>
        <p:spPr>
          <a:xfrm>
            <a:off x="762000" y="1304925"/>
            <a:ext cx="7715250" cy="1028700"/>
          </a:xfrm>
          <a:prstGeom prst="rect">
            <a:avLst/>
          </a:prstGeom>
          <a:noFill/>
          <a:ln/>
        </p:spPr>
        <p:txBody>
          <a:bodyPr wrap="square" rtlCol="0" anchor="t"/>
          <a:lstStyle/>
          <a:p>
            <a:pPr algn="l" marL="342900" indent="-342900">
              <a:lnSpc>
                <a:spcPct val="150000"/>
              </a:lnSpc>
              <a:buSzPct val="100000"/>
              <a:buChar char="•"/>
            </a:pPr>
            <a:r>
              <a:rPr lang="en-US" sz="1536" dirty="0">
                <a:solidFill>
                  <a:srgbClr val="FFFFFF"/>
                </a:solidFill>
                <a:latin typeface="Noto Sans SC" pitchFamily="34" charset="0"/>
                <a:ea typeface="Noto Sans SC" pitchFamily="34" charset="-122"/>
                <a:cs typeface="Noto Sans SC" pitchFamily="34" charset="-120"/>
              </a:rPr>
              <a:t> Философтар кескіндеме, музыка, әдебиет және кино сияқты өнердің әртүрлі түрлерін және олардың біздің түсінуіміз бен қабылдауымызға қалай әсер ететінін талқылайды.</a:t>
            </a:r>
            <a:endParaRPr lang="en-US" sz="1536"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105025" y="1119188"/>
            <a:ext cx="1452563" cy="857250"/>
          </a:xfrm>
          <a:prstGeom prst="rect">
            <a:avLst/>
          </a:prstGeom>
          <a:noFill/>
          <a:ln/>
        </p:spPr>
        <p:txBody>
          <a:bodyPr wrap="square" rtlCol="0" anchor="t"/>
          <a:lstStyle/>
          <a:p>
            <a:pPr indent="0" marL="0">
              <a:buNone/>
            </a:pPr>
            <a:r>
              <a:rPr lang="en-US" sz="5400" dirty="0">
                <a:solidFill>
                  <a:srgbClr val="FFFFFF"/>
                </a:solidFill>
                <a:latin typeface="ZCOOL QingKe HuangYou" pitchFamily="34" charset="0"/>
                <a:ea typeface="ZCOOL QingKe HuangYou" pitchFamily="34" charset="-122"/>
                <a:cs typeface="ZCOOL QingKe HuangYou" pitchFamily="34" charset="-120"/>
              </a:rPr>
              <a:t>06</a:t>
            </a:r>
            <a:endParaRPr lang="en-US" sz="5400" dirty="0"/>
          </a:p>
        </p:txBody>
      </p:sp>
      <p:sp>
        <p:nvSpPr>
          <p:cNvPr id="3" name="Text 1"/>
          <p:cNvSpPr/>
          <p:nvPr/>
        </p:nvSpPr>
        <p:spPr>
          <a:xfrm>
            <a:off x="3886200" y="1209675"/>
            <a:ext cx="4187190" cy="1676400"/>
          </a:xfrm>
          <a:prstGeom prst="rect">
            <a:avLst/>
          </a:prstGeom>
          <a:noFill/>
          <a:ln/>
        </p:spPr>
        <p:txBody>
          <a:bodyPr wrap="square" rtlCol="0" anchor="t"/>
          <a:lstStyle/>
          <a:p>
            <a:pPr indent="0" marL="0">
              <a:buNone/>
            </a:pPr>
            <a:r>
              <a:rPr lang="en-US" sz="3712" b="1" dirty="0">
                <a:solidFill>
                  <a:srgbClr val="FFFFFF"/>
                </a:solidFill>
                <a:latin typeface="ZCOOL QingKe HuangYou" pitchFamily="34" charset="0"/>
                <a:ea typeface="ZCOOL QingKe HuangYou" pitchFamily="34" charset="-122"/>
                <a:cs typeface="ZCOOL QingKe HuangYou" pitchFamily="34" charset="-120"/>
              </a:rPr>
              <a:t>Қорытындылау</a:t>
            </a:r>
            <a:endParaRPr lang="en-US" sz="371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62000" y="781050"/>
            <a:ext cx="7806690" cy="2143"/>
          </a:xfrm>
          <a:prstGeom prst="rect">
            <a:avLst/>
          </a:prstGeom>
          <a:solidFill>
            <a:srgbClr val="FFFFFF"/>
          </a:solidFill>
          <a:ln/>
        </p:spPr>
      </p:sp>
      <p:sp>
        <p:nvSpPr>
          <p:cNvPr id="3" name="Text 1"/>
          <p:cNvSpPr/>
          <p:nvPr/>
        </p:nvSpPr>
        <p:spPr>
          <a:xfrm>
            <a:off x="762000" y="228600"/>
            <a:ext cx="7806690" cy="552450"/>
          </a:xfrm>
          <a:prstGeom prst="rect">
            <a:avLst/>
          </a:prstGeom>
          <a:noFill/>
          <a:ln/>
        </p:spPr>
        <p:txBody>
          <a:bodyPr wrap="square" rtlCol="0" anchor="ctr"/>
          <a:lstStyle/>
          <a:p>
            <a:pPr indent="0" marL="0">
              <a:buNone/>
            </a:pPr>
            <a:r>
              <a:rPr lang="en-US" sz="2400" b="1" dirty="0">
                <a:solidFill>
                  <a:srgbClr val="FFFFFF"/>
                </a:solidFill>
                <a:latin typeface="ZCOOL QingKe HuangYou" pitchFamily="34" charset="0"/>
                <a:ea typeface="ZCOOL QingKe HuangYou" pitchFamily="34" charset="-122"/>
                <a:cs typeface="ZCOOL QingKe HuangYou" pitchFamily="34" charset="-120"/>
              </a:rPr>
              <a:t>Қорытындылау</a:t>
            </a:r>
            <a:endParaRPr lang="en-US" sz="2400" dirty="0"/>
          </a:p>
        </p:txBody>
      </p:sp>
      <p:sp>
        <p:nvSpPr>
          <p:cNvPr id="4" name="Text 2"/>
          <p:cNvSpPr/>
          <p:nvPr/>
        </p:nvSpPr>
        <p:spPr>
          <a:xfrm>
            <a:off x="762000" y="1304925"/>
            <a:ext cx="7715250" cy="2057400"/>
          </a:xfrm>
          <a:prstGeom prst="rect">
            <a:avLst/>
          </a:prstGeom>
          <a:noFill/>
          <a:ln/>
        </p:spPr>
        <p:txBody>
          <a:bodyPr wrap="square" rtlCol="0" anchor="t"/>
          <a:lstStyle/>
          <a:p>
            <a:pPr algn="l" marL="342900" indent="-342900">
              <a:lnSpc>
                <a:spcPct val="150000"/>
              </a:lnSpc>
              <a:buSzPct val="100000"/>
              <a:buChar char="•"/>
            </a:pPr>
            <a:r>
              <a:rPr lang="en-US" sz="1536" dirty="0">
                <a:solidFill>
                  <a:srgbClr val="FFFFFF"/>
                </a:solidFill>
                <a:latin typeface="Noto Sans SC" pitchFamily="34" charset="0"/>
                <a:ea typeface="Noto Sans SC" pitchFamily="34" charset="-122"/>
                <a:cs typeface="Noto Sans SC" pitchFamily="34" charset="-120"/>
              </a:rPr>
              <a:t>- Философия мен өнердің арақатынасы күрделі және көп өлшемді.Философия бізге өнер туралы терең ойлаудың негізін береді және өнер туындыларының мәні мен құндылығын жақсырақ түсінуге көмектеседі. Сонымен бірге өнер көбінесе философтарды адамның эстетикалық тәжірибесі мен мәдени танымы туралы ойлауға итермелейді.</a:t>
            </a:r>
            <a:endParaRPr lang="en-US" sz="1536"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414463" y="1890713"/>
            <a:ext cx="2700338" cy="381000"/>
          </a:xfrm>
          <a:prstGeom prst="rect">
            <a:avLst/>
          </a:prstGeom>
          <a:noFill/>
          <a:ln/>
        </p:spPr>
        <p:txBody>
          <a:bodyPr wrap="square" rtlCol="0" anchor="t"/>
          <a:lstStyle/>
          <a:p>
            <a:pPr indent="0" marL="0">
              <a:buNone/>
            </a:pPr>
            <a:r>
              <a:rPr lang="en-US" sz="2400" dirty="0">
                <a:solidFill>
                  <a:srgbClr val="FFFFFF"/>
                </a:solidFill>
                <a:latin typeface="Noto Sans SC" pitchFamily="34" charset="0"/>
                <a:ea typeface="Noto Sans SC" pitchFamily="34" charset="-122"/>
                <a:cs typeface="Noto Sans SC" pitchFamily="34" charset="-120"/>
              </a:rPr>
              <a:t>THE END</a:t>
            </a:r>
            <a:endParaRPr lang="en-US" sz="2400" dirty="0"/>
          </a:p>
        </p:txBody>
      </p:sp>
      <p:sp>
        <p:nvSpPr>
          <p:cNvPr id="3" name="Text 1"/>
          <p:cNvSpPr/>
          <p:nvPr/>
        </p:nvSpPr>
        <p:spPr>
          <a:xfrm>
            <a:off x="1414463" y="2566988"/>
            <a:ext cx="2700338" cy="714375"/>
          </a:xfrm>
          <a:prstGeom prst="rect">
            <a:avLst/>
          </a:prstGeom>
          <a:noFill/>
          <a:ln/>
        </p:spPr>
        <p:txBody>
          <a:bodyPr wrap="square" rtlCol="0" anchor="t"/>
          <a:lstStyle/>
          <a:p>
            <a:pPr indent="0" marL="0">
              <a:buNone/>
            </a:pPr>
            <a:r>
              <a:rPr lang="en-US" sz="4500" dirty="0">
                <a:solidFill>
                  <a:srgbClr val="FFFFFF"/>
                </a:solidFill>
                <a:latin typeface="ZCOOL QingKe HuangYou" pitchFamily="34" charset="0"/>
                <a:ea typeface="ZCOOL QingKe HuangYou" pitchFamily="34" charset="-122"/>
                <a:cs typeface="ZCOOL QingKe HuangYou" pitchFamily="34" charset="-120"/>
              </a:rPr>
              <a:t>THANKS</a:t>
            </a:r>
            <a:endParaRPr lang="en-US" sz="4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457200"/>
            <a:ext cx="8229600" cy="457200"/>
          </a:xfrm>
          <a:prstGeom prst="rect">
            <a:avLst/>
          </a:prstGeom>
          <a:solidFill>
            <a:srgbClr val="A913BD"/>
          </a:solidFill>
          <a:ln/>
        </p:spPr>
      </p:sp>
      <p:sp>
        <p:nvSpPr>
          <p:cNvPr id="3" name="Text 1"/>
          <p:cNvSpPr/>
          <p:nvPr/>
        </p:nvSpPr>
        <p:spPr>
          <a:xfrm>
            <a:off x="457200" y="457200"/>
            <a:ext cx="8229600" cy="457200"/>
          </a:xfrm>
          <a:prstGeom prst="rect">
            <a:avLst/>
          </a:prstGeom>
          <a:noFill/>
          <a:ln/>
        </p:spPr>
        <p:txBody>
          <a:bodyPr wrap="square" rtlCol="0" anchor="ctr"/>
          <a:lstStyle/>
          <a:p>
            <a:pPr algn="l" indent="0" marL="0">
              <a:buNone/>
            </a:pPr>
            <a:r>
              <a:rPr lang="en-US" sz="1200" b="1" dirty="0">
                <a:solidFill>
                  <a:srgbClr val="FFFFFF"/>
                </a:solidFill>
              </a:rPr>
              <a:t>版权声明：</a:t>
            </a:r>
            <a:endParaRPr lang="en-US" sz="1200" dirty="0"/>
          </a:p>
        </p:txBody>
      </p:sp>
      <p:sp>
        <p:nvSpPr>
          <p:cNvPr id="4" name="Text 2"/>
          <p:cNvSpPr/>
          <p:nvPr/>
        </p:nvSpPr>
        <p:spPr>
          <a:xfrm>
            <a:off x="457200" y="1097280"/>
            <a:ext cx="8229600" cy="457200"/>
          </a:xfrm>
          <a:prstGeom prst="rect">
            <a:avLst/>
          </a:prstGeom>
          <a:noFill/>
          <a:ln/>
        </p:spPr>
        <p:txBody>
          <a:bodyPr wrap="square" rtlCol="0" anchor="ctr"/>
          <a:lstStyle/>
          <a:p>
            <a:pPr algn="l" indent="0" marL="0">
              <a:buNone/>
            </a:pPr>
            <a:r>
              <a:rPr lang="en-US" sz="1200" dirty="0">
                <a:solidFill>
                  <a:srgbClr val="000000"/>
                </a:solidFill>
              </a:rPr>
              <a:t>此模板的版权，归MindShow.fun所有。</a:t>
            </a:r>
            <a:endParaRPr lang="en-US" sz="1200" dirty="0"/>
          </a:p>
        </p:txBody>
      </p:sp>
      <p:sp>
        <p:nvSpPr>
          <p:cNvPr id="5" name="Text 3"/>
          <p:cNvSpPr/>
          <p:nvPr/>
        </p:nvSpPr>
        <p:spPr>
          <a:xfrm>
            <a:off x="457200" y="1371600"/>
            <a:ext cx="8229600" cy="914400"/>
          </a:xfrm>
          <a:prstGeom prst="rect">
            <a:avLst/>
          </a:prstGeom>
          <a:noFill/>
          <a:ln/>
        </p:spPr>
        <p:txBody>
          <a:bodyPr wrap="square" rtlCol="0" anchor="ctr"/>
          <a:lstStyle/>
          <a:p>
            <a:pPr algn="l" indent="0" marL="0">
              <a:lnSpc>
                <a:spcPct val="150000"/>
              </a:lnSpc>
              <a:buNone/>
            </a:pPr>
            <a:r>
              <a:rPr lang="en-US" sz="1200" dirty="0">
                <a:solidFill>
                  <a:srgbClr val="000000"/>
                </a:solidFill>
              </a:rPr>
              <a:t>个人商用需要高级会员，普通用户只限个人学习使用。</a:t>
            </a:r>
            <a:endParaRPr lang="en-US" sz="1200" dirty="0"/>
          </a:p>
          <a:p>
            <a:pPr algn="l" indent="0" marL="0">
              <a:lnSpc>
                <a:spcPct val="150000"/>
              </a:lnSpc>
              <a:buNone/>
            </a:pPr>
            <a:r>
              <a:rPr lang="en-US" sz="1200" dirty="0">
                <a:solidFill>
                  <a:srgbClr val="000000"/>
                </a:solidFill>
              </a:rPr>
              <a:t>如需企业商用授权，请联系MindShow.fun购买企业版。</a:t>
            </a:r>
            <a:endParaRPr lang="en-US" sz="1200" dirty="0"/>
          </a:p>
        </p:txBody>
      </p:sp>
      <p:sp>
        <p:nvSpPr>
          <p:cNvPr id="6" name="Text 4"/>
          <p:cNvSpPr/>
          <p:nvPr/>
        </p:nvSpPr>
        <p:spPr>
          <a:xfrm>
            <a:off x="457200" y="2743200"/>
            <a:ext cx="8229600" cy="457200"/>
          </a:xfrm>
          <a:prstGeom prst="rect">
            <a:avLst/>
          </a:prstGeom>
          <a:noFill/>
          <a:ln/>
        </p:spPr>
        <p:txBody>
          <a:bodyPr wrap="square" rtlCol="0" anchor="ctr"/>
          <a:lstStyle/>
          <a:p>
            <a:pPr algn="l" indent="0" marL="0">
              <a:buNone/>
            </a:pPr>
            <a:r>
              <a:rPr lang="en-US" sz="1200" b="1" dirty="0">
                <a:solidFill>
                  <a:srgbClr val="000000"/>
                </a:solidFill>
              </a:rPr>
              <a:t>PPT中所用字体下载："Noto Sans SC", "Noto Sans KR"</a:t>
            </a:r>
            <a:endParaRPr lang="en-US" sz="1200" dirty="0"/>
          </a:p>
        </p:txBody>
      </p:sp>
      <p:sp>
        <p:nvSpPr>
          <p:cNvPr id="7" name="Text 5"/>
          <p:cNvSpPr/>
          <p:nvPr/>
        </p:nvSpPr>
        <p:spPr>
          <a:xfrm>
            <a:off x="457200" y="3200400"/>
            <a:ext cx="8229600" cy="457200"/>
          </a:xfrm>
          <a:prstGeom prst="rect">
            <a:avLst/>
          </a:prstGeom>
          <a:noFill/>
          <a:ln/>
        </p:spPr>
        <p:txBody>
          <a:bodyPr wrap="square" rtlCol="0" anchor="ctr"/>
          <a:lstStyle/>
          <a:p>
            <a:pPr algn="l" indent="0" marL="0">
              <a:buNone/>
            </a:pPr>
            <a:r>
              <a:rPr lang="en-US" sz="1200" dirty="0">
                <a:solidFill>
                  <a:srgbClr val="0000FF"/>
                </a:solidFill>
              </a:rPr>
              <a:t>https://www.aliyundrive.com/s/Q1VAkGau9PE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философиядағы өнер</dc:title>
  <dc:subject/>
  <dc:creator>Salauat，Olzhas</dc:creator>
  <cp:lastModifiedBy>Salauat，Olzhas</cp:lastModifiedBy>
  <cp:revision>1</cp:revision>
  <dcterms:created xsi:type="dcterms:W3CDTF">2023-11-02T08:26:54Z</dcterms:created>
  <dcterms:modified xsi:type="dcterms:W3CDTF">2023-11-02T08:26:54Z</dcterms:modified>
</cp:coreProperties>
</file>