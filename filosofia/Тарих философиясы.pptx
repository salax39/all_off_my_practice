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img" ContentType="image/im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lightyellow_font_20221011/Cover-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lightyellow_font_20221011/Catalog-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lightyellow_font_20221011/Session-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EED6"/>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lightyellow_font_20221011/Cover-bg.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im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im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im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im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509963" y="681038"/>
            <a:ext cx="5206365" cy="1333500"/>
          </a:xfrm>
          <a:prstGeom prst="rect">
            <a:avLst/>
          </a:prstGeom>
          <a:noFill/>
          <a:ln/>
        </p:spPr>
        <p:txBody>
          <a:bodyPr wrap="square" rtlCol="0" anchor="b"/>
          <a:lstStyle/>
          <a:p>
            <a:pPr algn="r" indent="0" marL="0">
              <a:buNone/>
            </a:pPr>
            <a:r>
              <a:rPr lang="en-US" sz="3500" b="1" dirty="0">
                <a:solidFill>
                  <a:srgbClr val="ED5558"/>
                </a:solidFill>
                <a:latin typeface="Noto Sans SC" pitchFamily="34" charset="0"/>
                <a:ea typeface="Noto Sans SC" pitchFamily="34" charset="-122"/>
                <a:cs typeface="Noto Sans SC" pitchFamily="34" charset="-120"/>
              </a:rPr>
              <a:t>Тарих философиясы</a:t>
            </a:r>
            <a:endParaRPr lang="en-US" sz="3500" dirty="0"/>
          </a:p>
        </p:txBody>
      </p:sp>
      <p:sp>
        <p:nvSpPr>
          <p:cNvPr id="3" name="Text 1"/>
          <p:cNvSpPr/>
          <p:nvPr/>
        </p:nvSpPr>
        <p:spPr>
          <a:xfrm>
            <a:off x="6681788" y="4248150"/>
            <a:ext cx="1943100" cy="409575"/>
          </a:xfrm>
          <a:prstGeom prst="rect">
            <a:avLst/>
          </a:prstGeom>
          <a:noFill/>
          <a:ln/>
        </p:spPr>
        <p:txBody>
          <a:bodyPr wrap="square" rtlCol="0" anchor="b"/>
          <a:lstStyle/>
          <a:p>
            <a:pPr algn="r" indent="0" marL="0">
              <a:buNone/>
            </a:pPr>
            <a:endParaRPr lang="en-US" sz="1050" dirty="0"/>
          </a:p>
          <a:p>
            <a:pPr algn="r" indent="0" marL="0">
              <a:buNone/>
            </a:pPr>
            <a:r>
              <a:rPr lang="en-US" sz="1050" dirty="0">
                <a:solidFill>
                  <a:srgbClr val="646464"/>
                </a:solidFill>
                <a:latin typeface="Noto Sans SC" pitchFamily="34" charset="0"/>
                <a:ea typeface="Noto Sans SC" pitchFamily="34" charset="-122"/>
                <a:cs typeface="Noto Sans SC" pitchFamily="34" charset="-120"/>
              </a:rPr>
              <a:t>2023-11-29</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52588" y="595313"/>
            <a:ext cx="2852737" cy="776288"/>
          </a:xfrm>
          <a:prstGeom prst="rect">
            <a:avLst/>
          </a:prstGeom>
          <a:noFill/>
          <a:ln/>
        </p:spPr>
        <p:txBody>
          <a:bodyPr wrap="square" rtlCol="0" anchor="ctr"/>
          <a:lstStyle/>
          <a:p>
            <a:pPr algn="ctr" indent="0" marL="0">
              <a:buNone/>
            </a:pPr>
            <a:r>
              <a:rPr lang="en-US" sz="4200" b="1" dirty="0">
                <a:solidFill>
                  <a:srgbClr val="383838"/>
                </a:solidFill>
                <a:latin typeface="Alegreya" pitchFamily="34" charset="0"/>
                <a:ea typeface="Alegreya" pitchFamily="34" charset="-122"/>
                <a:cs typeface="Alegreya" pitchFamily="34" charset="-120"/>
              </a:rPr>
              <a:t> CONTENTS </a:t>
            </a:r>
            <a:endParaRPr lang="en-US" sz="4200" dirty="0"/>
          </a:p>
        </p:txBody>
      </p:sp>
      <p:sp>
        <p:nvSpPr>
          <p:cNvPr id="3" name="Text 1"/>
          <p:cNvSpPr/>
          <p:nvPr/>
        </p:nvSpPr>
        <p:spPr>
          <a:xfrm>
            <a:off x="1662113" y="1619250"/>
            <a:ext cx="6872288" cy="2933700"/>
          </a:xfrm>
          <a:prstGeom prst="rect">
            <a:avLst/>
          </a:prstGeom>
          <a:noFill/>
          <a:ln/>
        </p:spPr>
        <p:txBody>
          <a:bodyPr wrap="square" rtlCol="0" anchor="t"/>
          <a:lstStyle/>
          <a:p>
            <a:pPr algn="l" marL="342900" indent="-342900">
              <a:lnSpc>
                <a:spcPct val="150000"/>
              </a:lnSpc>
              <a:buSzPct val="100000"/>
              <a:buChar char="•"/>
            </a:pPr>
            <a:r>
              <a:rPr lang="en-US" sz="1750" dirty="0">
                <a:solidFill>
                  <a:srgbClr val="383838"/>
                </a:solidFill>
                <a:latin typeface="Noto Sans SC" pitchFamily="34" charset="0"/>
                <a:ea typeface="Noto Sans SC" pitchFamily="34" charset="-122"/>
                <a:cs typeface="Noto Sans SC" pitchFamily="34" charset="-120"/>
              </a:rPr>
              <a:t>Кіріспе</a:t>
            </a:r>
            <a:endParaRPr lang="en-US" sz="1750" dirty="0"/>
          </a:p>
          <a:p>
            <a:pPr algn="l" marL="342900" indent="-342900">
              <a:lnSpc>
                <a:spcPct val="150000"/>
              </a:lnSpc>
              <a:buSzPct val="100000"/>
              <a:buChar char="•"/>
            </a:pPr>
            <a:r>
              <a:rPr lang="en-US" sz="1750" dirty="0">
                <a:solidFill>
                  <a:srgbClr val="383838"/>
                </a:solidFill>
                <a:latin typeface="Noto Sans SC" pitchFamily="34" charset="0"/>
                <a:ea typeface="Noto Sans SC" pitchFamily="34" charset="-122"/>
                <a:cs typeface="Noto Sans SC" pitchFamily="34" charset="-120"/>
              </a:rPr>
              <a:t>тарихтың спакулативті философиясы</a:t>
            </a:r>
            <a:endParaRPr lang="en-US" sz="1750" dirty="0"/>
          </a:p>
          <a:p>
            <a:pPr algn="l" marL="342900" indent="-342900">
              <a:lnSpc>
                <a:spcPct val="150000"/>
              </a:lnSpc>
              <a:buSzPct val="100000"/>
              <a:buChar char="•"/>
            </a:pPr>
            <a:r>
              <a:rPr lang="en-US" sz="1750" dirty="0">
                <a:solidFill>
                  <a:srgbClr val="383838"/>
                </a:solidFill>
                <a:latin typeface="Noto Sans SC" pitchFamily="34" charset="0"/>
                <a:ea typeface="Noto Sans SC" pitchFamily="34" charset="-122"/>
                <a:cs typeface="Noto Sans SC" pitchFamily="34" charset="-120"/>
              </a:rPr>
              <a:t>тарихтың сыни философиясы</a:t>
            </a:r>
            <a:endParaRPr lang="en-US" sz="1750" dirty="0"/>
          </a:p>
          <a:p>
            <a:pPr algn="l" marL="342900" indent="-342900">
              <a:lnSpc>
                <a:spcPct val="150000"/>
              </a:lnSpc>
              <a:buSzPct val="100000"/>
              <a:buChar char="•"/>
            </a:pPr>
            <a:r>
              <a:rPr lang="en-US" sz="1750" dirty="0">
                <a:solidFill>
                  <a:srgbClr val="383838"/>
                </a:solidFill>
                <a:latin typeface="Noto Sans SC" pitchFamily="34" charset="0"/>
                <a:ea typeface="Noto Sans SC" pitchFamily="34" charset="-122"/>
                <a:cs typeface="Noto Sans SC" pitchFamily="34" charset="-120"/>
              </a:rPr>
              <a:t>тарихтың баяндау философиясы</a:t>
            </a:r>
            <a:endParaRPr lang="en-US" sz="1750" dirty="0"/>
          </a:p>
          <a:p>
            <a:pPr algn="l" marL="342900" indent="-342900">
              <a:lnSpc>
                <a:spcPct val="150000"/>
              </a:lnSpc>
              <a:buSzPct val="100000"/>
              <a:buChar char="•"/>
            </a:pPr>
            <a:r>
              <a:rPr lang="en-US" sz="1750" dirty="0">
                <a:solidFill>
                  <a:srgbClr val="383838"/>
                </a:solidFill>
                <a:latin typeface="Noto Sans SC" pitchFamily="34" charset="0"/>
                <a:ea typeface="Noto Sans SC" pitchFamily="34" charset="-122"/>
                <a:cs typeface="Noto Sans SC" pitchFamily="34" charset="-120"/>
              </a:rPr>
              <a:t>Қортынды</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33525" y="1914525"/>
            <a:ext cx="1452563" cy="1295400"/>
          </a:xfrm>
          <a:prstGeom prst="rect">
            <a:avLst/>
          </a:prstGeom>
          <a:noFill/>
          <a:ln/>
        </p:spPr>
        <p:txBody>
          <a:bodyPr wrap="square" rtlCol="0" anchor="ctr"/>
          <a:lstStyle/>
          <a:p>
            <a:pPr indent="0" marL="0">
              <a:buNone/>
            </a:pPr>
            <a:r>
              <a:rPr lang="en-US" sz="7000" b="1" dirty="0">
                <a:solidFill>
                  <a:srgbClr val="646464"/>
                </a:solidFill>
                <a:latin typeface="Alegreya" pitchFamily="34" charset="0"/>
                <a:ea typeface="Alegreya" pitchFamily="34" charset="-122"/>
                <a:cs typeface="Alegreya" pitchFamily="34" charset="-120"/>
              </a:rPr>
              <a:t>01</a:t>
            </a:r>
            <a:endParaRPr lang="en-US" sz="7000" dirty="0"/>
          </a:p>
        </p:txBody>
      </p:sp>
      <p:sp>
        <p:nvSpPr>
          <p:cNvPr id="3" name="Text 1"/>
          <p:cNvSpPr/>
          <p:nvPr/>
        </p:nvSpPr>
        <p:spPr>
          <a:xfrm>
            <a:off x="3348038" y="1733550"/>
            <a:ext cx="5101590" cy="1676400"/>
          </a:xfrm>
          <a:prstGeom prst="rect">
            <a:avLst/>
          </a:prstGeom>
          <a:noFill/>
          <a:ln/>
        </p:spPr>
        <p:txBody>
          <a:bodyPr wrap="square" rtlCol="0" anchor="ctr"/>
          <a:lstStyle/>
          <a:p>
            <a:pPr indent="0" marL="0">
              <a:buNone/>
            </a:pPr>
            <a:r>
              <a:rPr lang="en-US" sz="4200" b="1" dirty="0">
                <a:solidFill>
                  <a:srgbClr val="383838"/>
                </a:solidFill>
                <a:latin typeface="Noto Sans SC" pitchFamily="34" charset="0"/>
                <a:ea typeface="Noto Sans SC" pitchFamily="34" charset="-122"/>
                <a:cs typeface="Noto Sans SC" pitchFamily="34" charset="-120"/>
              </a:rPr>
              <a:t>Кіріспе</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3" name="Text 0"/>
          <p:cNvSpPr/>
          <p:nvPr/>
        </p:nvSpPr>
        <p:spPr>
          <a:xfrm>
            <a:off x="585788" y="285750"/>
            <a:ext cx="4410075" cy="514350"/>
          </a:xfrm>
          <a:prstGeom prst="rect">
            <a:avLst/>
          </a:prstGeom>
          <a:noFill/>
          <a:ln/>
        </p:spPr>
        <p:txBody>
          <a:bodyPr wrap="square" rtlCol="0" anchor="t"/>
          <a:lstStyle/>
          <a:p>
            <a:pPr indent="0" marL="0">
              <a:buNone/>
            </a:pPr>
            <a:r>
              <a:rPr lang="en-US" sz="1925" b="1" dirty="0">
                <a:solidFill>
                  <a:srgbClr val="383838"/>
                </a:solidFill>
                <a:latin typeface="Noto Sans SC" pitchFamily="34" charset="0"/>
                <a:ea typeface="Noto Sans SC" pitchFamily="34" charset="-122"/>
                <a:cs typeface="Noto Sans SC" pitchFamily="34" charset="-120"/>
              </a:rPr>
              <a:t>Кіріспе</a:t>
            </a:r>
            <a:endParaRPr lang="en-US" sz="1925" dirty="0"/>
          </a:p>
        </p:txBody>
      </p:sp>
      <p:sp>
        <p:nvSpPr>
          <p:cNvPr id="4" name="Text 1"/>
          <p:cNvSpPr/>
          <p:nvPr/>
        </p:nvSpPr>
        <p:spPr>
          <a:xfrm>
            <a:off x="585788" y="1228725"/>
            <a:ext cx="4410075" cy="3476625"/>
          </a:xfrm>
          <a:prstGeom prst="rect">
            <a:avLst/>
          </a:prstGeom>
          <a:noFill/>
          <a:ln/>
        </p:spPr>
        <p:txBody>
          <a:bodyPr wrap="square" rtlCol="0" anchor="t"/>
          <a:lstStyle/>
          <a:p>
            <a:pPr algn="l" indent="0" marL="0">
              <a:lnSpc>
                <a:spcPct val="150000"/>
              </a:lnSpc>
              <a:buNone/>
            </a:pPr>
            <a:r>
              <a:rPr lang="en-US" sz="1330" dirty="0">
                <a:solidFill>
                  <a:srgbClr val="383838"/>
                </a:solidFill>
                <a:latin typeface="Noto Sans SC" pitchFamily="34" charset="0"/>
                <a:ea typeface="Noto Sans SC" pitchFamily="34" charset="-122"/>
                <a:cs typeface="Noto Sans SC" pitchFamily="34" charset="-120"/>
              </a:rPr>
              <a:t>Тарих философиясы,Ол тарихтың заңдылығы мен маңызы, тарихтың табиғаты мен әдістері, тарихи жазудың құрылымы мен заңдылықтары сияқты мәселелерді зерттеуді мақсат ететін тарихпен байланысты философияның бір саласы. қарапайым тілмен айтқанда, «біз» «тарихқа» қалай қараймыз.
</a:t>
            </a:r>
            <a:endParaRPr lang="en-US" sz="1330" dirty="0"/>
          </a:p>
          <a:p>
            <a:pPr algn="l" indent="0" marL="0">
              <a:lnSpc>
                <a:spcPct val="150000"/>
              </a:lnSpc>
              <a:buNone/>
            </a:pPr>
            <a:r>
              <a:rPr lang="en-US" sz="1330" dirty="0">
                <a:solidFill>
                  <a:srgbClr val="383838"/>
                </a:solidFill>
                <a:latin typeface="Noto Sans SC" pitchFamily="34" charset="0"/>
                <a:ea typeface="Noto Sans SC" pitchFamily="34" charset="-122"/>
                <a:cs typeface="Noto Sans SC" pitchFamily="34" charset="-120"/>
              </a:rPr>
              <a:t>Тарих философиясын үш категорияға бөлуге болады: тарихтың спакулативті философиясы, тарихтың сыни философиясы және тарихтың баяндау философиясы.</a:t>
            </a:r>
            <a:endParaRPr lang="en-US" sz="1330" dirty="0"/>
          </a:p>
        </p:txBody>
      </p:sp>
      <p:pic>
        <p:nvPicPr>
          <p:cNvPr id="5" name="Image 1" descr="https://assets.mindshow.fun/file/6919232/d44e357fe2694abc983351ca3f8c9426?x-oss-process=style/img">    </p:cNvPr>
          <p:cNvPicPr>
            <a:picLocks noChangeAspect="1"/>
          </p:cNvPicPr>
          <p:nvPr/>
        </p:nvPicPr>
        <p:blipFill>
          <a:blip r:embed="rId3"/>
          <a:srcRect l="27840" r="27840" t="0" b="0"/>
          <a:stretch/>
        </p:blipFill>
        <p:spPr>
          <a:xfrm>
            <a:off x="5710238" y="0"/>
            <a:ext cx="3433763"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533525" y="1914525"/>
            <a:ext cx="1452563" cy="1295400"/>
          </a:xfrm>
          <a:prstGeom prst="rect">
            <a:avLst/>
          </a:prstGeom>
          <a:noFill/>
          <a:ln/>
        </p:spPr>
        <p:txBody>
          <a:bodyPr wrap="square" rtlCol="0" anchor="ctr"/>
          <a:lstStyle/>
          <a:p>
            <a:pPr indent="0" marL="0">
              <a:buNone/>
            </a:pPr>
            <a:r>
              <a:rPr lang="en-US" sz="7000" b="1" dirty="0">
                <a:solidFill>
                  <a:srgbClr val="646464"/>
                </a:solidFill>
                <a:latin typeface="Alegreya" pitchFamily="34" charset="0"/>
                <a:ea typeface="Alegreya" pitchFamily="34" charset="-122"/>
                <a:cs typeface="Alegreya" pitchFamily="34" charset="-120"/>
              </a:rPr>
              <a:t>02</a:t>
            </a:r>
            <a:endParaRPr lang="en-US" sz="7000" dirty="0"/>
          </a:p>
        </p:txBody>
      </p:sp>
      <p:sp>
        <p:nvSpPr>
          <p:cNvPr id="3" name="Text 1"/>
          <p:cNvSpPr/>
          <p:nvPr/>
        </p:nvSpPr>
        <p:spPr>
          <a:xfrm>
            <a:off x="3348038" y="1733550"/>
            <a:ext cx="5101590" cy="1676400"/>
          </a:xfrm>
          <a:prstGeom prst="rect">
            <a:avLst/>
          </a:prstGeom>
          <a:noFill/>
          <a:ln/>
        </p:spPr>
        <p:txBody>
          <a:bodyPr wrap="square" rtlCol="0" anchor="ctr"/>
          <a:lstStyle/>
          <a:p>
            <a:pPr indent="0" marL="0">
              <a:buNone/>
            </a:pPr>
            <a:r>
              <a:rPr lang="en-US" sz="2975" b="1" dirty="0">
                <a:solidFill>
                  <a:srgbClr val="383838"/>
                </a:solidFill>
                <a:latin typeface="Noto Sans SC" pitchFamily="34" charset="0"/>
                <a:ea typeface="Noto Sans SC" pitchFamily="34" charset="-122"/>
                <a:cs typeface="Noto Sans SC" pitchFamily="34" charset="-120"/>
              </a:rPr>
              <a:t>тарихтың спакулативті философиясы</a:t>
            </a:r>
            <a:endParaRPr lang="en-US" sz="2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ttps://assets.mindshow.fun/file/6919232/fc5a0de1355e4811b42dd8a2728a7333?x-oss-process=style/img">    </p:cNvPr>
          <p:cNvPicPr>
            <a:picLocks noChangeAspect="1"/>
          </p:cNvPicPr>
          <p:nvPr/>
        </p:nvPicPr>
        <p:blipFill>
          <a:blip r:embed="rId1"/>
          <a:srcRect l="0" r="0" t="7813" b="7813"/>
          <a:stretch/>
        </p:blipFill>
        <p:spPr>
          <a:xfrm>
            <a:off x="0" y="0"/>
            <a:ext cx="9144000" cy="5143500"/>
          </a:xfrm>
          <a:prstGeom prst="rect">
            <a:avLst/>
          </a:prstGeom>
        </p:spPr>
      </p:pic>
      <p:pic>
        <p:nvPicPr>
          <p:cNvPr id="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
        <p:nvSpPr>
          <p:cNvPr id="4" name="Text 0"/>
          <p:cNvSpPr/>
          <p:nvPr/>
        </p:nvSpPr>
        <p:spPr>
          <a:xfrm>
            <a:off x="776288" y="757238"/>
            <a:ext cx="3562350" cy="671513"/>
          </a:xfrm>
          <a:prstGeom prst="rect">
            <a:avLst/>
          </a:prstGeom>
          <a:noFill/>
          <a:ln/>
        </p:spPr>
        <p:txBody>
          <a:bodyPr wrap="square" rtlCol="0" anchor="t"/>
          <a:lstStyle/>
          <a:p>
            <a:pPr indent="0" marL="0">
              <a:buNone/>
            </a:pPr>
            <a:r>
              <a:rPr lang="en-US" sz="1400" b="1" dirty="0">
                <a:solidFill>
                  <a:srgbClr val="FFFFFF"/>
                </a:solidFill>
                <a:latin typeface="Noto Sans SC" pitchFamily="34" charset="0"/>
                <a:ea typeface="Noto Sans SC" pitchFamily="34" charset="-122"/>
                <a:cs typeface="Noto Sans SC" pitchFamily="34" charset="-120"/>
              </a:rPr>
              <a:t>тарихтың спакулативті философиясы</a:t>
            </a:r>
            <a:endParaRPr lang="en-US" sz="1400" dirty="0"/>
          </a:p>
        </p:txBody>
      </p:sp>
      <p:sp>
        <p:nvSpPr>
          <p:cNvPr id="5" name="Text 1"/>
          <p:cNvSpPr/>
          <p:nvPr/>
        </p:nvSpPr>
        <p:spPr>
          <a:xfrm>
            <a:off x="776288" y="1724025"/>
            <a:ext cx="3562350" cy="2809875"/>
          </a:xfrm>
          <a:prstGeom prst="rect">
            <a:avLst/>
          </a:prstGeom>
          <a:noFill/>
          <a:ln/>
        </p:spPr>
        <p:txBody>
          <a:bodyPr wrap="square" rtlCol="0" anchor="t"/>
          <a:lstStyle/>
          <a:p>
            <a:pPr algn="l" indent="0" marL="0">
              <a:lnSpc>
                <a:spcPct val="150000"/>
              </a:lnSpc>
              <a:buNone/>
            </a:pPr>
            <a:r>
              <a:rPr lang="en-US" sz="980" dirty="0">
                <a:solidFill>
                  <a:srgbClr val="FFFFFF"/>
                </a:solidFill>
                <a:latin typeface="Noto Sans SC" pitchFamily="34" charset="0"/>
                <a:ea typeface="Noto Sans SC" pitchFamily="34" charset="-122"/>
                <a:cs typeface="Noto Sans SC" pitchFamily="34" charset="-120"/>
              </a:rPr>
              <a:t>Тарихтың жалпы процесін бақылап, оның заңдылықтарын зерттеп, соған сәйкес адамзаттың тарихи тәжірибесін түсіндіре отырып, теориялық зерттеудің мұндай түрін көбінесе «спакулативті тарихи философия» деп атайды. Бұл философиялық зерттеуде: Кант, Гегель, Маркс, Тойнби т.б.
</a:t>
            </a:r>
            <a:endParaRPr lang="en-US" sz="980" dirty="0"/>
          </a:p>
          <a:p>
            <a:pPr algn="l" indent="0" marL="0">
              <a:lnSpc>
                <a:spcPct val="150000"/>
              </a:lnSpc>
              <a:buNone/>
            </a:pPr>
            <a:r>
              <a:rPr lang="en-US" sz="980" dirty="0">
                <a:solidFill>
                  <a:srgbClr val="FFFFFF"/>
                </a:solidFill>
                <a:latin typeface="Noto Sans SC" pitchFamily="34" charset="0"/>
                <a:ea typeface="Noto Sans SC" pitchFamily="34" charset="-122"/>
                <a:cs typeface="Noto Sans SC" pitchFamily="34" charset="-120"/>
              </a:rPr>
              <a:t>Солардың ішінде Гегель үшін «тарих философиясы» «әртүрлі оқиғалардың барысын реттейтін жалпы заңдылықтарды ашу», ал мұндағы «философия» «біртұтас заңдарды ашумен» тең.</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33525" y="1914525"/>
            <a:ext cx="1452563" cy="1295400"/>
          </a:xfrm>
          <a:prstGeom prst="rect">
            <a:avLst/>
          </a:prstGeom>
          <a:noFill/>
          <a:ln/>
        </p:spPr>
        <p:txBody>
          <a:bodyPr wrap="square" rtlCol="0" anchor="ctr"/>
          <a:lstStyle/>
          <a:p>
            <a:pPr indent="0" marL="0">
              <a:buNone/>
            </a:pPr>
            <a:r>
              <a:rPr lang="en-US" sz="7000" b="1" dirty="0">
                <a:solidFill>
                  <a:srgbClr val="646464"/>
                </a:solidFill>
                <a:latin typeface="Alegreya" pitchFamily="34" charset="0"/>
                <a:ea typeface="Alegreya" pitchFamily="34" charset="-122"/>
                <a:cs typeface="Alegreya" pitchFamily="34" charset="-120"/>
              </a:rPr>
              <a:t>03</a:t>
            </a:r>
            <a:endParaRPr lang="en-US" sz="7000" dirty="0"/>
          </a:p>
        </p:txBody>
      </p:sp>
      <p:sp>
        <p:nvSpPr>
          <p:cNvPr id="3" name="Text 1"/>
          <p:cNvSpPr/>
          <p:nvPr/>
        </p:nvSpPr>
        <p:spPr>
          <a:xfrm>
            <a:off x="3348038" y="1733550"/>
            <a:ext cx="5101590" cy="1676400"/>
          </a:xfrm>
          <a:prstGeom prst="rect">
            <a:avLst/>
          </a:prstGeom>
          <a:noFill/>
          <a:ln/>
        </p:spPr>
        <p:txBody>
          <a:bodyPr wrap="square" rtlCol="0" anchor="ctr"/>
          <a:lstStyle/>
          <a:p>
            <a:pPr indent="0" marL="0">
              <a:buNone/>
            </a:pPr>
            <a:r>
              <a:rPr lang="en-US" sz="4060" b="1" dirty="0">
                <a:solidFill>
                  <a:srgbClr val="383838"/>
                </a:solidFill>
                <a:latin typeface="Noto Sans SC" pitchFamily="34" charset="0"/>
                <a:ea typeface="Noto Sans SC" pitchFamily="34" charset="-122"/>
                <a:cs typeface="Noto Sans SC" pitchFamily="34" charset="-120"/>
              </a:rPr>
              <a:t>тарихтың сыни философиясы</a:t>
            </a:r>
            <a:endParaRPr lang="en-US" sz="40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ttps://assets.mindshow.fun/file/6919232/eb9d756b84c84f349c1f2ad9c1e7e806?x-oss-process=style/img">    </p:cNvPr>
          <p:cNvPicPr>
            <a:picLocks noChangeAspect="1"/>
          </p:cNvPicPr>
          <p:nvPr/>
        </p:nvPicPr>
        <p:blipFill>
          <a:blip r:embed="rId1"/>
          <a:srcRect l="0" r="0" t="29167" b="29167"/>
          <a:stretch/>
        </p:blipFill>
        <p:spPr>
          <a:xfrm>
            <a:off x="0" y="0"/>
            <a:ext cx="9144000" cy="5143500"/>
          </a:xfrm>
          <a:prstGeom prst="rect">
            <a:avLst/>
          </a:prstGeom>
        </p:spPr>
      </p:pic>
      <p:pic>
        <p:nvPicPr>
          <p:cNvPr id="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
        <p:nvSpPr>
          <p:cNvPr id="4" name="Text 0"/>
          <p:cNvSpPr/>
          <p:nvPr/>
        </p:nvSpPr>
        <p:spPr>
          <a:xfrm>
            <a:off x="776288" y="757238"/>
            <a:ext cx="3562350" cy="671513"/>
          </a:xfrm>
          <a:prstGeom prst="rect">
            <a:avLst/>
          </a:prstGeom>
          <a:noFill/>
          <a:ln/>
        </p:spPr>
        <p:txBody>
          <a:bodyPr wrap="square" rtlCol="0" anchor="t"/>
          <a:lstStyle/>
          <a:p>
            <a:pPr indent="0" marL="0">
              <a:buNone/>
            </a:pPr>
            <a:r>
              <a:rPr lang="en-US" sz="1575" b="1" dirty="0">
                <a:solidFill>
                  <a:srgbClr val="FFFFFF"/>
                </a:solidFill>
                <a:latin typeface="Noto Sans SC" pitchFamily="34" charset="0"/>
                <a:ea typeface="Noto Sans SC" pitchFamily="34" charset="-122"/>
                <a:cs typeface="Noto Sans SC" pitchFamily="34" charset="-120"/>
              </a:rPr>
              <a:t>тарихтың сыни философиясы</a:t>
            </a:r>
            <a:endParaRPr lang="en-US" sz="1575" dirty="0"/>
          </a:p>
        </p:txBody>
      </p:sp>
      <p:sp>
        <p:nvSpPr>
          <p:cNvPr id="5" name="Text 1"/>
          <p:cNvSpPr/>
          <p:nvPr/>
        </p:nvSpPr>
        <p:spPr>
          <a:xfrm>
            <a:off x="776288" y="1724025"/>
            <a:ext cx="3562350" cy="2809875"/>
          </a:xfrm>
          <a:prstGeom prst="rect">
            <a:avLst/>
          </a:prstGeom>
          <a:noFill/>
          <a:ln/>
        </p:spPr>
        <p:txBody>
          <a:bodyPr wrap="square" rtlCol="0" anchor="t"/>
          <a:lstStyle/>
          <a:p>
            <a:pPr algn="l" indent="0" marL="0">
              <a:lnSpc>
                <a:spcPct val="150000"/>
              </a:lnSpc>
              <a:buNone/>
            </a:pPr>
            <a:r>
              <a:rPr lang="en-US" sz="980" dirty="0">
                <a:solidFill>
                  <a:srgbClr val="FFFFFF"/>
                </a:solidFill>
                <a:latin typeface="Noto Sans SC" pitchFamily="34" charset="0"/>
                <a:ea typeface="Noto Sans SC" pitchFamily="34" charset="-122"/>
                <a:cs typeface="Noto Sans SC" pitchFamily="34" charset="-120"/>
              </a:rPr>
              <a:t>тарихтың сыни философтар үшін: Тарихи фактілерді түсіну үшін алдымен тарихи танымның табиғатын талдап, түсінуіміз керек.Олардың алдында тұрған мәселе тарихтың өзі емес, тарихи білімнің не екеніне байланысты;
</a:t>
            </a:r>
            <a:endParaRPr lang="en-US" sz="980" dirty="0"/>
          </a:p>
          <a:p>
            <a:pPr algn="l" indent="0" marL="0">
              <a:lnSpc>
                <a:spcPct val="150000"/>
              </a:lnSpc>
              <a:buNone/>
            </a:pPr>
            <a:r>
              <a:rPr lang="en-US" sz="980" dirty="0">
                <a:solidFill>
                  <a:srgbClr val="FFFFFF"/>
                </a:solidFill>
                <a:latin typeface="Noto Sans SC" pitchFamily="34" charset="0"/>
                <a:ea typeface="Noto Sans SC" pitchFamily="34" charset="-122"/>
                <a:cs typeface="Noto Sans SC" pitchFamily="34" charset="-120"/>
              </a:rPr>
              <a:t>Британдық философ Брэдли тарихтың сыни әдісі болуы керек деп есептейді. Тарихи істер негізінен автордың өзі дәлелдей алмайтын оқиғалар болып табылады.Оларға көбінесе өткендегі фактілерді айтқан адамдар куәландырады. Заттарды сипаттайтындардың сенімділігін автордың өзі бағалауы керек дейді,</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533525" y="1914525"/>
            <a:ext cx="1452563" cy="1295400"/>
          </a:xfrm>
          <a:prstGeom prst="rect">
            <a:avLst/>
          </a:prstGeom>
          <a:noFill/>
          <a:ln/>
        </p:spPr>
        <p:txBody>
          <a:bodyPr wrap="square" rtlCol="0" anchor="ctr"/>
          <a:lstStyle/>
          <a:p>
            <a:pPr indent="0" marL="0">
              <a:buNone/>
            </a:pPr>
            <a:r>
              <a:rPr lang="en-US" sz="7000" b="1" dirty="0">
                <a:solidFill>
                  <a:srgbClr val="646464"/>
                </a:solidFill>
                <a:latin typeface="Alegreya" pitchFamily="34" charset="0"/>
                <a:ea typeface="Alegreya" pitchFamily="34" charset="-122"/>
                <a:cs typeface="Alegreya" pitchFamily="34" charset="-120"/>
              </a:rPr>
              <a:t>04</a:t>
            </a:r>
            <a:endParaRPr lang="en-US" sz="7000" dirty="0"/>
          </a:p>
        </p:txBody>
      </p:sp>
      <p:sp>
        <p:nvSpPr>
          <p:cNvPr id="3" name="Text 1"/>
          <p:cNvSpPr/>
          <p:nvPr/>
        </p:nvSpPr>
        <p:spPr>
          <a:xfrm>
            <a:off x="3348038" y="1733550"/>
            <a:ext cx="5101590" cy="1676400"/>
          </a:xfrm>
          <a:prstGeom prst="rect">
            <a:avLst/>
          </a:prstGeom>
          <a:noFill/>
          <a:ln/>
        </p:spPr>
        <p:txBody>
          <a:bodyPr wrap="square" rtlCol="0" anchor="ctr"/>
          <a:lstStyle/>
          <a:p>
            <a:pPr indent="0" marL="0">
              <a:buNone/>
            </a:pPr>
            <a:r>
              <a:rPr lang="en-US" sz="3745" b="1" dirty="0">
                <a:solidFill>
                  <a:srgbClr val="383838"/>
                </a:solidFill>
                <a:latin typeface="Noto Sans SC" pitchFamily="34" charset="0"/>
                <a:ea typeface="Noto Sans SC" pitchFamily="34" charset="-122"/>
                <a:cs typeface="Noto Sans SC" pitchFamily="34" charset="-120"/>
              </a:rPr>
              <a:t>тарихтың баяндау философиясы</a:t>
            </a:r>
            <a:endParaRPr lang="en-US" sz="374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assets.mindshow.fun/file/6919232/eac32a3d953341d4bde8acfc119c24d0?x-oss-process=style/img">    </p:cNvPr>
          <p:cNvPicPr>
            <a:picLocks noChangeAspect="1"/>
          </p:cNvPicPr>
          <p:nvPr/>
        </p:nvPicPr>
        <p:blipFill>
          <a:blip r:embed="rId1"/>
          <a:srcRect l="0" r="0" t="31250" b="31250"/>
          <a:stretch/>
        </p:blipFill>
        <p:spPr>
          <a:xfrm>
            <a:off x="0" y="0"/>
            <a:ext cx="9144000" cy="5143500"/>
          </a:xfrm>
          <a:prstGeom prst="rect">
            <a:avLst/>
          </a:prstGeom>
        </p:spPr>
      </p:pic>
      <p:pic>
        <p:nvPicPr>
          <p:cNvPr id="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
        <p:nvSpPr>
          <p:cNvPr id="4" name="Text 0"/>
          <p:cNvSpPr/>
          <p:nvPr/>
        </p:nvSpPr>
        <p:spPr>
          <a:xfrm>
            <a:off x="357188" y="757238"/>
            <a:ext cx="3562350" cy="671513"/>
          </a:xfrm>
          <a:prstGeom prst="rect">
            <a:avLst/>
          </a:prstGeom>
          <a:noFill/>
          <a:ln/>
        </p:spPr>
        <p:txBody>
          <a:bodyPr wrap="square" rtlCol="0" anchor="t"/>
          <a:lstStyle/>
          <a:p>
            <a:pPr indent="0" marL="0">
              <a:buNone/>
            </a:pPr>
            <a:r>
              <a:rPr lang="en-US" sz="1400" b="1" dirty="0">
                <a:solidFill>
                  <a:srgbClr val="383838"/>
                </a:solidFill>
                <a:latin typeface="Noto Sans SC" pitchFamily="34" charset="0"/>
                <a:ea typeface="Noto Sans SC" pitchFamily="34" charset="-122"/>
                <a:cs typeface="Noto Sans SC" pitchFamily="34" charset="-120"/>
              </a:rPr>
              <a:t>тарихтың баяндау философиясы</a:t>
            </a:r>
            <a:endParaRPr lang="en-US" sz="1400" dirty="0"/>
          </a:p>
        </p:txBody>
      </p:sp>
      <p:sp>
        <p:nvSpPr>
          <p:cNvPr id="5" name="Text 1"/>
          <p:cNvSpPr/>
          <p:nvPr/>
        </p:nvSpPr>
        <p:spPr>
          <a:xfrm>
            <a:off x="357188" y="1724025"/>
            <a:ext cx="3562350" cy="2809875"/>
          </a:xfrm>
          <a:prstGeom prst="rect">
            <a:avLst/>
          </a:prstGeom>
          <a:noFill/>
          <a:ln/>
        </p:spPr>
        <p:txBody>
          <a:bodyPr wrap="square" rtlCol="0" anchor="t"/>
          <a:lstStyle/>
          <a:p>
            <a:pPr algn="l" indent="0" marL="0">
              <a:lnSpc>
                <a:spcPct val="150000"/>
              </a:lnSpc>
              <a:buNone/>
            </a:pPr>
            <a:r>
              <a:rPr lang="en-US" sz="980" dirty="0">
                <a:solidFill>
                  <a:srgbClr val="383838"/>
                </a:solidFill>
                <a:latin typeface="Noto Sans SC" pitchFamily="34" charset="0"/>
                <a:ea typeface="Noto Sans SC" pitchFamily="34" charset="-122"/>
                <a:cs typeface="Noto Sans SC" pitchFamily="34" charset="-120"/>
              </a:rPr>
              <a:t>Хайден Уайттың 1973 жылы жарық көрген «Метаисториографиясы» тарих философиясындағы баяндауыштық бетбұрысты одан әрі тудырды және тарихтың баяндау философиясын дүниеге әкелді.Ол тарихты сюжеттің, риторикалық құрылымдардың, өкілдіктер мен идеологиялардың өнімі ретінде қарастырады
</a:t>
            </a:r>
            <a:endParaRPr lang="en-US" sz="980" dirty="0"/>
          </a:p>
          <a:p>
            <a:pPr algn="l" indent="0" marL="0">
              <a:lnSpc>
                <a:spcPct val="150000"/>
              </a:lnSpc>
              <a:buNone/>
            </a:pPr>
            <a:r>
              <a:rPr lang="en-US" sz="980" dirty="0">
                <a:solidFill>
                  <a:srgbClr val="383838"/>
                </a:solidFill>
                <a:latin typeface="Noto Sans SC" pitchFamily="34" charset="0"/>
                <a:ea typeface="Noto Sans SC" pitchFamily="34" charset="-122"/>
                <a:cs typeface="Noto Sans SC" pitchFamily="34" charset="-120"/>
              </a:rPr>
              <a:t>Уайт тарихшының «фактілері» ашылмаған деп есептейді, өйткені олар зерттеушінің алдында тұрған құбылыстарға сүйене отырып қоятын сұрақтары арқылы құрастырылады.</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533525" y="1914525"/>
            <a:ext cx="1452563" cy="1295400"/>
          </a:xfrm>
          <a:prstGeom prst="rect">
            <a:avLst/>
          </a:prstGeom>
          <a:noFill/>
          <a:ln/>
        </p:spPr>
        <p:txBody>
          <a:bodyPr wrap="square" rtlCol="0" anchor="ctr"/>
          <a:lstStyle/>
          <a:p>
            <a:pPr indent="0" marL="0">
              <a:buNone/>
            </a:pPr>
            <a:r>
              <a:rPr lang="en-US" sz="7000" b="1" dirty="0">
                <a:solidFill>
                  <a:srgbClr val="646464"/>
                </a:solidFill>
                <a:latin typeface="Alegreya" pitchFamily="34" charset="0"/>
                <a:ea typeface="Alegreya" pitchFamily="34" charset="-122"/>
                <a:cs typeface="Alegreya" pitchFamily="34" charset="-120"/>
              </a:rPr>
              <a:t>05</a:t>
            </a:r>
            <a:endParaRPr lang="en-US" sz="7000" dirty="0"/>
          </a:p>
        </p:txBody>
      </p:sp>
      <p:sp>
        <p:nvSpPr>
          <p:cNvPr id="3" name="Text 1"/>
          <p:cNvSpPr/>
          <p:nvPr/>
        </p:nvSpPr>
        <p:spPr>
          <a:xfrm>
            <a:off x="3348038" y="1733550"/>
            <a:ext cx="5101590" cy="1676400"/>
          </a:xfrm>
          <a:prstGeom prst="rect">
            <a:avLst/>
          </a:prstGeom>
          <a:noFill/>
          <a:ln/>
        </p:spPr>
        <p:txBody>
          <a:bodyPr wrap="square" rtlCol="0" anchor="ctr"/>
          <a:lstStyle/>
          <a:p>
            <a:pPr indent="0" marL="0">
              <a:buNone/>
            </a:pPr>
            <a:r>
              <a:rPr lang="en-US" sz="4200" b="1" dirty="0">
                <a:solidFill>
                  <a:srgbClr val="383838"/>
                </a:solidFill>
                <a:latin typeface="Noto Sans SC" pitchFamily="34" charset="0"/>
                <a:ea typeface="Noto Sans SC" pitchFamily="34" charset="-122"/>
                <a:cs typeface="Noto Sans SC" pitchFamily="34" charset="-120"/>
              </a:rPr>
              <a:t>Қортынды</a:t>
            </a:r>
            <a:endParaRPr lang="en-US" sz="4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7700" y="728663"/>
            <a:ext cx="2286953" cy="6429"/>
          </a:xfrm>
          <a:prstGeom prst="rect">
            <a:avLst/>
          </a:prstGeom>
          <a:solidFill>
            <a:srgbClr val="ED5558"/>
          </a:solidFill>
          <a:ln/>
        </p:spPr>
      </p:sp>
      <p:sp>
        <p:nvSpPr>
          <p:cNvPr id="3" name="Text 1"/>
          <p:cNvSpPr/>
          <p:nvPr/>
        </p:nvSpPr>
        <p:spPr>
          <a:xfrm>
            <a:off x="647700" y="176213"/>
            <a:ext cx="2286953" cy="552450"/>
          </a:xfrm>
          <a:prstGeom prst="rect">
            <a:avLst/>
          </a:prstGeom>
          <a:noFill/>
          <a:ln/>
        </p:spPr>
        <p:txBody>
          <a:bodyPr wrap="square" rtlCol="0" anchor="ctr"/>
          <a:lstStyle/>
          <a:p>
            <a:pPr indent="0" marL="0">
              <a:buNone/>
            </a:pPr>
            <a:r>
              <a:rPr lang="en-US" sz="2625" b="1" dirty="0">
                <a:solidFill>
                  <a:srgbClr val="383838"/>
                </a:solidFill>
                <a:latin typeface="Noto Sans SC" pitchFamily="34" charset="0"/>
                <a:ea typeface="Noto Sans SC" pitchFamily="34" charset="-122"/>
                <a:cs typeface="Noto Sans SC" pitchFamily="34" charset="-120"/>
              </a:rPr>
              <a:t>Қортынды</a:t>
            </a:r>
            <a:endParaRPr lang="en-US" sz="2625" dirty="0"/>
          </a:p>
        </p:txBody>
      </p:sp>
      <p:sp>
        <p:nvSpPr>
          <p:cNvPr id="4" name="Text 2"/>
          <p:cNvSpPr/>
          <p:nvPr/>
        </p:nvSpPr>
        <p:spPr>
          <a:xfrm>
            <a:off x="762000" y="1304925"/>
            <a:ext cx="7715250" cy="3452813"/>
          </a:xfrm>
          <a:prstGeom prst="rect">
            <a:avLst/>
          </a:prstGeom>
          <a:noFill/>
          <a:ln/>
        </p:spPr>
        <p:txBody>
          <a:bodyPr wrap="square" rtlCol="0" anchor="t"/>
          <a:lstStyle/>
          <a:p>
            <a:pPr algn="l" marL="342900" indent="-342900">
              <a:lnSpc>
                <a:spcPct val="150000"/>
              </a:lnSpc>
              <a:buSzPct val="100000"/>
              <a:buChar char="•"/>
            </a:pPr>
            <a:r>
              <a:rPr lang="en-US" sz="1680" dirty="0">
                <a:solidFill>
                  <a:srgbClr val="383838"/>
                </a:solidFill>
                <a:latin typeface="Noto Sans SC" pitchFamily="34" charset="0"/>
                <a:ea typeface="Noto Sans SC" pitchFamily="34" charset="-122"/>
                <a:cs typeface="Noto Sans SC" pitchFamily="34" charset="-120"/>
              </a:rPr>
              <a:t>Тарих философиясы – адамдардың тарих туралы шындық туралы жаңартылған түсінігі. Уақыт өте келе ашылатын адамның тіршілігі – тарих. Алғашқы тарихи саналылықтан бастап, кемел тарихи көзқарас пен жүйелі тарихи философияға дейін адамдарды өзінің тарихи тағдыры қашанда толғандырады. Тарих пен тарихнама туралы философиялық ойлау, түпкілікті талдауда, адам болмысы туралы ойлау болып табылады.</a:t>
            </a: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700463" y="1938337"/>
            <a:ext cx="3395663" cy="552450"/>
          </a:xfrm>
          <a:prstGeom prst="rect">
            <a:avLst/>
          </a:prstGeom>
          <a:noFill/>
          <a:ln/>
        </p:spPr>
        <p:txBody>
          <a:bodyPr wrap="square" rtlCol="0" anchor="t"/>
          <a:lstStyle/>
          <a:p>
            <a:pPr indent="0" marL="0">
              <a:buNone/>
            </a:pPr>
            <a:r>
              <a:rPr lang="en-US" sz="2800" b="1" dirty="0">
                <a:solidFill>
                  <a:srgbClr val="383838"/>
                </a:solidFill>
                <a:latin typeface="Noto Sans SC" pitchFamily="34" charset="0"/>
                <a:ea typeface="Noto Sans SC" pitchFamily="34" charset="-122"/>
                <a:cs typeface="Noto Sans SC" pitchFamily="34" charset="-120"/>
              </a:rPr>
              <a:t>THE END</a:t>
            </a:r>
            <a:endParaRPr lang="en-US" sz="2800" dirty="0"/>
          </a:p>
        </p:txBody>
      </p:sp>
      <p:sp>
        <p:nvSpPr>
          <p:cNvPr id="3" name="Text 1"/>
          <p:cNvSpPr/>
          <p:nvPr/>
        </p:nvSpPr>
        <p:spPr>
          <a:xfrm>
            <a:off x="3700463" y="2381250"/>
            <a:ext cx="3395663" cy="1033463"/>
          </a:xfrm>
          <a:prstGeom prst="rect">
            <a:avLst/>
          </a:prstGeom>
          <a:noFill/>
          <a:ln/>
        </p:spPr>
        <p:txBody>
          <a:bodyPr wrap="square" rtlCol="0" anchor="t"/>
          <a:lstStyle/>
          <a:p>
            <a:pPr indent="0" marL="0">
              <a:buNone/>
            </a:pPr>
            <a:r>
              <a:rPr lang="en-US" sz="5250" b="1" dirty="0">
                <a:solidFill>
                  <a:srgbClr val="ED5558"/>
                </a:solidFill>
                <a:latin typeface="Noto Sans SC" pitchFamily="34" charset="0"/>
                <a:ea typeface="Noto Sans SC" pitchFamily="34" charset="-122"/>
                <a:cs typeface="Noto Sans SC" pitchFamily="34" charset="-120"/>
              </a:rPr>
              <a:t>THANKS</a:t>
            </a:r>
            <a:endParaRPr lang="en-US" sz="5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Тарих философиясы</dc:title>
  <dc:subject/>
  <dc:creator/>
  <cp:lastModifiedBy/>
  <cp:revision>1</cp:revision>
  <dcterms:created xsi:type="dcterms:W3CDTF">2023-11-29T16:32:54Z</dcterms:created>
  <dcterms:modified xsi:type="dcterms:W3CDTF">2023-11-29T16:32:54Z</dcterms:modified>
</cp:coreProperties>
</file>