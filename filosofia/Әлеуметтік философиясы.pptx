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technology_circuit_board_20230307/Cover-bg.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technology_circuit_board_20230307/Catalog-bg.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technology_circuit_board_20230307/Session-bg.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blue_technology_circuit_board_20230307/End-bg.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0063" y="1647825"/>
            <a:ext cx="6882765" cy="819150"/>
          </a:xfrm>
          <a:prstGeom prst="rect">
            <a:avLst/>
          </a:prstGeom>
          <a:noFill/>
          <a:ln/>
        </p:spPr>
        <p:txBody>
          <a:bodyPr wrap="square" rtlCol="0" anchor="b"/>
          <a:lstStyle/>
          <a:p>
            <a:pPr indent="0" marL="0">
              <a:buNone/>
            </a:pPr>
            <a:r>
              <a:rPr lang="en-US" sz="3104" b="1" dirty="0">
                <a:solidFill>
                  <a:srgbClr val="FFFFFF"/>
                </a:solidFill>
                <a:latin typeface="Noto Sans SC" pitchFamily="34" charset="0"/>
                <a:ea typeface="Noto Sans SC" pitchFamily="34" charset="-122"/>
                <a:cs typeface="Noto Sans SC" pitchFamily="34" charset="-120"/>
              </a:rPr>
              <a:t>Әлеуметтік философиясы</a:t>
            </a:r>
            <a:endParaRPr lang="en-US" sz="3104" dirty="0"/>
          </a:p>
        </p:txBody>
      </p:sp>
      <p:sp>
        <p:nvSpPr>
          <p:cNvPr id="3" name="Text 1"/>
          <p:cNvSpPr/>
          <p:nvPr/>
        </p:nvSpPr>
        <p:spPr>
          <a:xfrm>
            <a:off x="514350" y="4090988"/>
            <a:ext cx="1943100" cy="552450"/>
          </a:xfrm>
          <a:prstGeom prst="rect">
            <a:avLst/>
          </a:prstGeom>
          <a:noFill/>
          <a:ln/>
        </p:spPr>
        <p:txBody>
          <a:bodyPr wrap="square" rtlCol="0" anchor="t"/>
          <a:lstStyle/>
          <a:p>
            <a:pPr algn="l" indent="0" marL="0">
              <a:buNone/>
            </a:pPr>
            <a:endParaRPr lang="en-US" sz="1200" dirty="0"/>
          </a:p>
          <a:p>
            <a:pPr algn="l" indent="0" marL="0">
              <a:buNone/>
            </a:pPr>
            <a:r>
              <a:rPr lang="en-US" sz="1200" dirty="0">
                <a:solidFill>
                  <a:srgbClr val="646464"/>
                </a:solidFill>
                <a:latin typeface="Noto Sans SC" pitchFamily="34" charset="0"/>
                <a:ea typeface="Noto Sans SC" pitchFamily="34" charset="-122"/>
                <a:cs typeface="Noto Sans SC" pitchFamily="34" charset="-120"/>
              </a:rPr>
              <a:t>2023-11-16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662238" y="428625"/>
            <a:ext cx="4433888" cy="828675"/>
          </a:xfrm>
          <a:prstGeom prst="rect">
            <a:avLst/>
          </a:prstGeom>
          <a:noFill/>
          <a:ln/>
        </p:spPr>
        <p:txBody>
          <a:bodyPr wrap="square" rtlCol="0" anchor="ctr"/>
          <a:lstStyle/>
          <a:p>
            <a:pPr indent="0" marL="0">
              <a:buNone/>
            </a:pPr>
            <a:r>
              <a:rPr lang="en-US" sz="3600" b="1" dirty="0">
                <a:solidFill>
                  <a:srgbClr val="111B57"/>
                </a:solidFill>
                <a:latin typeface="Noto Sans SC" pitchFamily="34" charset="0"/>
                <a:ea typeface="Noto Sans SC" pitchFamily="34" charset="-122"/>
                <a:cs typeface="Noto Sans SC" pitchFamily="34" charset="-120"/>
              </a:rPr>
              <a:t> CONTENTS </a:t>
            </a:r>
            <a:endParaRPr lang="en-US" sz="3600" dirty="0"/>
          </a:p>
        </p:txBody>
      </p:sp>
      <p:sp>
        <p:nvSpPr>
          <p:cNvPr id="3" name="Text 1"/>
          <p:cNvSpPr/>
          <p:nvPr/>
        </p:nvSpPr>
        <p:spPr>
          <a:xfrm>
            <a:off x="2662238" y="1347787"/>
            <a:ext cx="5424488" cy="3214688"/>
          </a:xfrm>
          <a:prstGeom prst="rect">
            <a:avLst/>
          </a:prstGeom>
          <a:noFill/>
          <a:ln/>
        </p:spPr>
        <p:txBody>
          <a:bodyPr wrap="square" rtlCol="0" anchor="t"/>
          <a:lstStyle/>
          <a:p>
            <a:pPr algn="l" marL="342900" indent="-342900">
              <a:lnSpc>
                <a:spcPct val="150000"/>
              </a:lnSpc>
              <a:buSzPct val="100000"/>
              <a:buChar char="•"/>
            </a:pPr>
            <a:r>
              <a:rPr lang="en-US" sz="1600" dirty="0">
                <a:solidFill>
                  <a:srgbClr val="383838"/>
                </a:solidFill>
                <a:latin typeface="Noto Sans SC" pitchFamily="34" charset="0"/>
                <a:ea typeface="Noto Sans SC" pitchFamily="34" charset="-122"/>
                <a:cs typeface="Noto Sans SC" pitchFamily="34" charset="-120"/>
              </a:rPr>
              <a:t>1.Әлеуметтік философия</a:t>
            </a:r>
            <a:endParaRPr lang="en-US" sz="1600" dirty="0"/>
          </a:p>
          <a:p>
            <a:pPr algn="l" marL="342900" indent="-342900">
              <a:lnSpc>
                <a:spcPct val="150000"/>
              </a:lnSpc>
              <a:buSzPct val="100000"/>
              <a:buChar char="•"/>
            </a:pPr>
            <a:r>
              <a:rPr lang="en-US" sz="1600" dirty="0">
                <a:solidFill>
                  <a:srgbClr val="383838"/>
                </a:solidFill>
                <a:latin typeface="Noto Sans SC" pitchFamily="34" charset="0"/>
                <a:ea typeface="Noto Sans SC" pitchFamily="34" charset="-122"/>
                <a:cs typeface="Noto Sans SC" pitchFamily="34" charset="-120"/>
              </a:rPr>
              <a:t>2.Философиялық зерттеулердің бір түрі ретінде әлеуметтік философия жалпы онтологиямен ұштасады.Мысалы：</a:t>
            </a:r>
            <a:endParaRPr lang="en-US" sz="1600" dirty="0"/>
          </a:p>
          <a:p>
            <a:pPr algn="l" marL="342900" indent="-342900">
              <a:lnSpc>
                <a:spcPct val="150000"/>
              </a:lnSpc>
              <a:buSzPct val="100000"/>
              <a:buChar char="•"/>
            </a:pPr>
            <a:r>
              <a:rPr lang="en-US" sz="1600" dirty="0">
                <a:solidFill>
                  <a:srgbClr val="383838"/>
                </a:solidFill>
                <a:latin typeface="Noto Sans SC" pitchFamily="34" charset="0"/>
                <a:ea typeface="Noto Sans SC" pitchFamily="34" charset="-122"/>
                <a:cs typeface="Noto Sans SC" pitchFamily="34" charset="-120"/>
              </a:rPr>
              <a:t>3,жәнеде</a:t>
            </a:r>
            <a:endParaRPr lang="en-US" sz="1600" dirty="0"/>
          </a:p>
          <a:p>
            <a:pPr algn="l" marL="342900" indent="-342900">
              <a:lnSpc>
                <a:spcPct val="150000"/>
              </a:lnSpc>
              <a:buSzPct val="100000"/>
              <a:buChar char="•"/>
            </a:pPr>
            <a:r>
              <a:rPr lang="en-US" sz="1600" dirty="0">
                <a:solidFill>
                  <a:srgbClr val="383838"/>
                </a:solidFill>
                <a:latin typeface="Noto Sans SC" pitchFamily="34" charset="0"/>
                <a:ea typeface="Noto Sans SC" pitchFamily="34" charset="-122"/>
                <a:cs typeface="Noto Sans SC" pitchFamily="34" charset="-120"/>
              </a:rPr>
              <a:t>4.Марксизмнің Әлеуметтік философия</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2463" y="1824038"/>
            <a:ext cx="1452563" cy="1243013"/>
          </a:xfrm>
          <a:prstGeom prst="rect">
            <a:avLst/>
          </a:prstGeom>
          <a:noFill/>
          <a:ln/>
        </p:spPr>
        <p:txBody>
          <a:bodyPr wrap="square" rtlCol="0" anchor="ctr"/>
          <a:lstStyle/>
          <a:p>
            <a:pPr algn="ctr" indent="0" marL="0">
              <a:buNone/>
            </a:pPr>
            <a:r>
              <a:rPr lang="en-US" sz="5400" b="1" dirty="0">
                <a:solidFill>
                  <a:srgbClr val="FFFFFF"/>
                </a:solidFill>
                <a:latin typeface="Noto Sans SC" pitchFamily="34" charset="0"/>
                <a:ea typeface="Noto Sans SC" pitchFamily="34" charset="-122"/>
                <a:cs typeface="Noto Sans SC" pitchFamily="34" charset="-120"/>
              </a:rPr>
              <a:t>01</a:t>
            </a:r>
            <a:endParaRPr lang="en-US" sz="5400" dirty="0"/>
          </a:p>
        </p:txBody>
      </p:sp>
      <p:sp>
        <p:nvSpPr>
          <p:cNvPr id="3" name="Text 1"/>
          <p:cNvSpPr/>
          <p:nvPr/>
        </p:nvSpPr>
        <p:spPr>
          <a:xfrm>
            <a:off x="2695575" y="1790700"/>
            <a:ext cx="5101590" cy="1304925"/>
          </a:xfrm>
          <a:prstGeom prst="rect">
            <a:avLst/>
          </a:prstGeom>
          <a:noFill/>
          <a:ln/>
        </p:spPr>
        <p:txBody>
          <a:bodyPr wrap="square" rtlCol="0" anchor="ctr"/>
          <a:lstStyle/>
          <a:p>
            <a:pPr indent="0" marL="0">
              <a:buNone/>
            </a:pPr>
            <a:r>
              <a:rPr lang="en-US" sz="3360" b="1" dirty="0">
                <a:solidFill>
                  <a:srgbClr val="FFFFFF"/>
                </a:solidFill>
                <a:latin typeface="Noto Sans SC" pitchFamily="34" charset="0"/>
                <a:ea typeface="Noto Sans SC" pitchFamily="34" charset="-122"/>
                <a:cs typeface="Noto Sans SC" pitchFamily="34" charset="-120"/>
              </a:rPr>
              <a:t>1.Әлеуметтік философия</a:t>
            </a:r>
            <a:endParaRPr lang="en-US" sz="33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ttps://assets.mindshow.fun/themes/blue_technology_circuit_board_20230307/Content_header.jpg">    </p:cNvPr>
          <p:cNvPicPr>
            <a:picLocks noChangeAspect="1"/>
          </p:cNvPicPr>
          <p:nvPr/>
        </p:nvPicPr>
        <p:blipFill>
          <a:blip r:embed="rId1"/>
          <a:stretch>
            <a:fillRect/>
          </a:stretch>
        </p:blipFill>
        <p:spPr>
          <a:xfrm>
            <a:off x="0" y="0"/>
            <a:ext cx="9144000" cy="981075"/>
          </a:xfrm>
          <a:prstGeom prst="rect">
            <a:avLst/>
          </a:prstGeom>
        </p:spPr>
      </p:pic>
      <p:sp>
        <p:nvSpPr>
          <p:cNvPr id="3" name="Text 0"/>
          <p:cNvSpPr/>
          <p:nvPr/>
        </p:nvSpPr>
        <p:spPr>
          <a:xfrm>
            <a:off x="762000" y="214312"/>
            <a:ext cx="6316028" cy="552450"/>
          </a:xfrm>
          <a:prstGeom prst="rect">
            <a:avLst/>
          </a:prstGeom>
          <a:noFill/>
          <a:ln/>
        </p:spPr>
        <p:txBody>
          <a:bodyPr wrap="square" rtlCol="0" anchor="ctr"/>
          <a:lstStyle/>
          <a:p>
            <a:pPr indent="0" marL="0">
              <a:buNone/>
            </a:pPr>
            <a:r>
              <a:rPr lang="en-US" sz="1600" b="1" dirty="0">
                <a:solidFill>
                  <a:srgbClr val="FFFFFF"/>
                </a:solidFill>
                <a:latin typeface="Noto Sans SC" pitchFamily="34" charset="0"/>
                <a:ea typeface="Noto Sans SC" pitchFamily="34" charset="-122"/>
                <a:cs typeface="Noto Sans SC" pitchFamily="34" charset="-120"/>
              </a:rPr>
              <a:t>1.Әлеуметтік философия</a:t>
            </a:r>
            <a:endParaRPr lang="en-US" sz="1600" dirty="0"/>
          </a:p>
        </p:txBody>
      </p:sp>
      <p:sp>
        <p:nvSpPr>
          <p:cNvPr id="4" name="Text 1"/>
          <p:cNvSpPr/>
          <p:nvPr/>
        </p:nvSpPr>
        <p:spPr>
          <a:xfrm>
            <a:off x="762000" y="1304925"/>
            <a:ext cx="7715250" cy="2400300"/>
          </a:xfrm>
          <a:prstGeom prst="rect">
            <a:avLst/>
          </a:prstGeom>
          <a:noFill/>
          <a:ln/>
        </p:spPr>
        <p:txBody>
          <a:bodyPr wrap="square" rtlCol="0" anchor="t"/>
          <a:lstStyle/>
          <a:p>
            <a:pPr algn="l" marL="342900" indent="-342900">
              <a:lnSpc>
                <a:spcPct val="150000"/>
              </a:lnSpc>
              <a:buSzPct val="100000"/>
              <a:buChar char="•"/>
            </a:pPr>
            <a:r>
              <a:rPr lang="en-US" sz="1536" dirty="0">
                <a:solidFill>
                  <a:srgbClr val="646464"/>
                </a:solidFill>
                <a:latin typeface="Noto Sans SC" pitchFamily="34" charset="0"/>
                <a:ea typeface="Noto Sans SC" pitchFamily="34" charset="-122"/>
                <a:cs typeface="Noto Sans SC" pitchFamily="34" charset="-120"/>
              </a:rPr>
              <a:t>Әлеуметтік философия – философияның бір саласы. Ол әлеуметтік өзара әрекеттесулердің және әлеуметтік қатынастардың жалпы заңдылықтарын зерттейді, бірақ әлеуметтік философияның зерттеу объектілері мен көлемінің нақты түсіндірмесі жоқ. Әлеуметтік философия әлеуметтану емес.Оның кемшілігі алыпсатарлық зерттеулерге тым көп мән беріп, әлеуметтік философияның шеңберін тым тар шектейді.</a:t>
            </a:r>
            <a:endParaRPr lang="en-US" sz="153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2463" y="1824038"/>
            <a:ext cx="1452563" cy="1243013"/>
          </a:xfrm>
          <a:prstGeom prst="rect">
            <a:avLst/>
          </a:prstGeom>
          <a:noFill/>
          <a:ln/>
        </p:spPr>
        <p:txBody>
          <a:bodyPr wrap="square" rtlCol="0" anchor="ctr"/>
          <a:lstStyle/>
          <a:p>
            <a:pPr algn="ctr" indent="0" marL="0">
              <a:buNone/>
            </a:pPr>
            <a:r>
              <a:rPr lang="en-US" sz="5400" b="1" dirty="0">
                <a:solidFill>
                  <a:srgbClr val="FFFFFF"/>
                </a:solidFill>
                <a:latin typeface="Noto Sans SC" pitchFamily="34" charset="0"/>
                <a:ea typeface="Noto Sans SC" pitchFamily="34" charset="-122"/>
                <a:cs typeface="Noto Sans SC" pitchFamily="34" charset="-120"/>
              </a:rPr>
              <a:t>02</a:t>
            </a:r>
            <a:endParaRPr lang="en-US" sz="5400" dirty="0"/>
          </a:p>
        </p:txBody>
      </p:sp>
      <p:sp>
        <p:nvSpPr>
          <p:cNvPr id="3" name="Text 1"/>
          <p:cNvSpPr/>
          <p:nvPr/>
        </p:nvSpPr>
        <p:spPr>
          <a:xfrm>
            <a:off x="2695575" y="1790700"/>
            <a:ext cx="5101590" cy="1304925"/>
          </a:xfrm>
          <a:prstGeom prst="rect">
            <a:avLst/>
          </a:prstGeom>
          <a:noFill/>
          <a:ln/>
        </p:spPr>
        <p:txBody>
          <a:bodyPr wrap="square" rtlCol="0" anchor="ctr"/>
          <a:lstStyle/>
          <a:p>
            <a:pPr indent="0" marL="0">
              <a:buNone/>
            </a:pPr>
            <a:r>
              <a:rPr lang="en-US" sz="1408" b="1" dirty="0">
                <a:solidFill>
                  <a:srgbClr val="FFFFFF"/>
                </a:solidFill>
                <a:latin typeface="Noto Sans SC" pitchFamily="34" charset="0"/>
                <a:ea typeface="Noto Sans SC" pitchFamily="34" charset="-122"/>
                <a:cs typeface="Noto Sans SC" pitchFamily="34" charset="-120"/>
              </a:rPr>
              <a:t>2.Философиялық зерттеулердің бір түрі ретінде әлеуметтік философия жалпы онтологиямен ұштасады.Мысалы：</a:t>
            </a:r>
            <a:endParaRPr lang="en-US" sz="140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ttps://assets.mindshow.fun/themes/blue_technology_circuit_board_20230307/Content_header.jpg">    </p:cNvPr>
          <p:cNvPicPr>
            <a:picLocks noChangeAspect="1"/>
          </p:cNvPicPr>
          <p:nvPr/>
        </p:nvPicPr>
        <p:blipFill>
          <a:blip r:embed="rId1"/>
          <a:stretch>
            <a:fillRect/>
          </a:stretch>
        </p:blipFill>
        <p:spPr>
          <a:xfrm>
            <a:off x="0" y="0"/>
            <a:ext cx="9144000" cy="981075"/>
          </a:xfrm>
          <a:prstGeom prst="rect">
            <a:avLst/>
          </a:prstGeom>
        </p:spPr>
      </p:pic>
      <p:sp>
        <p:nvSpPr>
          <p:cNvPr id="3" name="Text 0"/>
          <p:cNvSpPr/>
          <p:nvPr/>
        </p:nvSpPr>
        <p:spPr>
          <a:xfrm>
            <a:off x="762000" y="214312"/>
            <a:ext cx="6316028" cy="552450"/>
          </a:xfrm>
          <a:prstGeom prst="rect">
            <a:avLst/>
          </a:prstGeom>
          <a:noFill/>
          <a:ln/>
        </p:spPr>
        <p:txBody>
          <a:bodyPr wrap="square" rtlCol="0" anchor="ctr"/>
          <a:lstStyle/>
          <a:p>
            <a:pPr indent="0" marL="0">
              <a:buNone/>
            </a:pPr>
            <a:r>
              <a:rPr lang="en-US" sz="800" b="1" dirty="0">
                <a:solidFill>
                  <a:srgbClr val="FFFFFF"/>
                </a:solidFill>
                <a:latin typeface="Noto Sans SC" pitchFamily="34" charset="0"/>
                <a:ea typeface="Noto Sans SC" pitchFamily="34" charset="-122"/>
                <a:cs typeface="Noto Sans SC" pitchFamily="34" charset="-120"/>
              </a:rPr>
              <a:t>2.Философиялық зерттеулердің бір түрі ретінде әлеуметтік философия жалпы онтологиямен ұштасады.Мысалы：</a:t>
            </a:r>
            <a:endParaRPr lang="en-US" sz="800" dirty="0"/>
          </a:p>
        </p:txBody>
      </p:sp>
      <p:sp>
        <p:nvSpPr>
          <p:cNvPr id="4" name="Text 1"/>
          <p:cNvSpPr/>
          <p:nvPr/>
        </p:nvSpPr>
        <p:spPr>
          <a:xfrm>
            <a:off x="762000" y="1304925"/>
            <a:ext cx="7715250" cy="2400300"/>
          </a:xfrm>
          <a:prstGeom prst="rect">
            <a:avLst/>
          </a:prstGeom>
          <a:noFill/>
          <a:ln/>
        </p:spPr>
        <p:txBody>
          <a:bodyPr wrap="square" rtlCol="0" anchor="t"/>
          <a:lstStyle/>
          <a:p>
            <a:pPr algn="l" marL="342900" indent="-342900">
              <a:lnSpc>
                <a:spcPct val="150000"/>
              </a:lnSpc>
              <a:buSzPct val="100000"/>
              <a:buChar char="•"/>
            </a:pPr>
            <a:r>
              <a:rPr lang="en-US" sz="1536" dirty="0">
                <a:solidFill>
                  <a:srgbClr val="646464"/>
                </a:solidFill>
                <a:latin typeface="Noto Sans SC" pitchFamily="34" charset="0"/>
                <a:ea typeface="Noto Sans SC" pitchFamily="34" charset="-122"/>
                <a:cs typeface="Noto Sans SC" pitchFamily="34" charset="-120"/>
              </a:rPr>
              <a:t>1.Платон мемлекет және құқық теориясын өз ойларынан шығарды</a:t>
            </a:r>
            <a:endParaRPr lang="en-US" sz="1536" dirty="0"/>
          </a:p>
          <a:p>
            <a:pPr algn="l" marL="342900" indent="-342900">
              <a:lnSpc>
                <a:spcPct val="150000"/>
              </a:lnSpc>
              <a:buSzPct val="100000"/>
              <a:buChar char="•"/>
            </a:pPr>
            <a:r>
              <a:rPr lang="en-US" sz="1536" dirty="0">
                <a:solidFill>
                  <a:srgbClr val="646464"/>
                </a:solidFill>
                <a:latin typeface="Noto Sans SC" pitchFamily="34" charset="0"/>
                <a:ea typeface="Noto Sans SC" pitchFamily="34" charset="-122"/>
                <a:cs typeface="Noto Sans SC" pitchFamily="34" charset="-120"/>
              </a:rPr>
              <a:t>2.Аристотельдің этикасы мен саясаты оның метафизикалық теориясынан бөлінбейді;</a:t>
            </a:r>
            <a:endParaRPr lang="en-US" sz="1536" dirty="0"/>
          </a:p>
          <a:p>
            <a:pPr algn="l" marL="342900" indent="-342900">
              <a:lnSpc>
                <a:spcPct val="150000"/>
              </a:lnSpc>
              <a:buSzPct val="100000"/>
              <a:buChar char="•"/>
            </a:pPr>
            <a:r>
              <a:rPr lang="en-US" sz="1536" dirty="0">
                <a:solidFill>
                  <a:srgbClr val="646464"/>
                </a:solidFill>
                <a:latin typeface="Noto Sans SC" pitchFamily="34" charset="0"/>
                <a:ea typeface="Noto Sans SC" pitchFamily="34" charset="-122"/>
                <a:cs typeface="Noto Sans SC" pitchFamily="34" charset="-120"/>
              </a:rPr>
              <a:t>3.Патристік және эмпирикалық философия әлеуметтік философияны өз жүйесінің бір бөлігі ретінде қамтиды</a:t>
            </a:r>
            <a:endParaRPr lang="en-US" sz="153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2463" y="1824038"/>
            <a:ext cx="1452563" cy="1243013"/>
          </a:xfrm>
          <a:prstGeom prst="rect">
            <a:avLst/>
          </a:prstGeom>
          <a:noFill/>
          <a:ln/>
        </p:spPr>
        <p:txBody>
          <a:bodyPr wrap="square" rtlCol="0" anchor="ctr"/>
          <a:lstStyle/>
          <a:p>
            <a:pPr algn="ctr" indent="0" marL="0">
              <a:buNone/>
            </a:pPr>
            <a:r>
              <a:rPr lang="en-US" sz="5400" b="1" dirty="0">
                <a:solidFill>
                  <a:srgbClr val="FFFFFF"/>
                </a:solidFill>
                <a:latin typeface="Noto Sans SC" pitchFamily="34" charset="0"/>
                <a:ea typeface="Noto Sans SC" pitchFamily="34" charset="-122"/>
                <a:cs typeface="Noto Sans SC" pitchFamily="34" charset="-120"/>
              </a:rPr>
              <a:t>03</a:t>
            </a:r>
            <a:endParaRPr lang="en-US" sz="5400" dirty="0"/>
          </a:p>
        </p:txBody>
      </p:sp>
      <p:sp>
        <p:nvSpPr>
          <p:cNvPr id="3" name="Text 1"/>
          <p:cNvSpPr/>
          <p:nvPr/>
        </p:nvSpPr>
        <p:spPr>
          <a:xfrm>
            <a:off x="2695575" y="1790700"/>
            <a:ext cx="5101590" cy="1304925"/>
          </a:xfrm>
          <a:prstGeom prst="rect">
            <a:avLst/>
          </a:prstGeom>
          <a:noFill/>
          <a:ln/>
        </p:spPr>
        <p:txBody>
          <a:bodyPr wrap="square" rtlCol="0" anchor="ctr"/>
          <a:lstStyle/>
          <a:p>
            <a:pPr indent="0" marL="0">
              <a:buNone/>
            </a:pPr>
            <a:r>
              <a:rPr lang="en-US" sz="3392" b="1" dirty="0">
                <a:solidFill>
                  <a:srgbClr val="FFFFFF"/>
                </a:solidFill>
                <a:latin typeface="Noto Sans SC" pitchFamily="34" charset="0"/>
                <a:ea typeface="Noto Sans SC" pitchFamily="34" charset="-122"/>
                <a:cs typeface="Noto Sans SC" pitchFamily="34" charset="-120"/>
              </a:rPr>
              <a:t>3,жәнеде</a:t>
            </a:r>
            <a:endParaRPr lang="en-US" sz="339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ttps://assets.mindshow.fun/themes/blue_technology_circuit_board_20230307/Content_header.jpg">    </p:cNvPr>
          <p:cNvPicPr>
            <a:picLocks noChangeAspect="1"/>
          </p:cNvPicPr>
          <p:nvPr/>
        </p:nvPicPr>
        <p:blipFill>
          <a:blip r:embed="rId1"/>
          <a:stretch>
            <a:fillRect/>
          </a:stretch>
        </p:blipFill>
        <p:spPr>
          <a:xfrm>
            <a:off x="0" y="0"/>
            <a:ext cx="9144000" cy="981075"/>
          </a:xfrm>
          <a:prstGeom prst="rect">
            <a:avLst/>
          </a:prstGeom>
        </p:spPr>
      </p:pic>
      <p:sp>
        <p:nvSpPr>
          <p:cNvPr id="3" name="Text 0"/>
          <p:cNvSpPr/>
          <p:nvPr/>
        </p:nvSpPr>
        <p:spPr>
          <a:xfrm>
            <a:off x="762000" y="214312"/>
            <a:ext cx="6316028" cy="552450"/>
          </a:xfrm>
          <a:prstGeom prst="rect">
            <a:avLst/>
          </a:prstGeom>
          <a:noFill/>
          <a:ln/>
        </p:spPr>
        <p:txBody>
          <a:bodyPr wrap="square" rtlCol="0" anchor="ctr"/>
          <a:lstStyle/>
          <a:p>
            <a:pPr indent="0" marL="0">
              <a:buNone/>
            </a:pPr>
            <a:r>
              <a:rPr lang="en-US" sz="1600" b="1" dirty="0">
                <a:solidFill>
                  <a:srgbClr val="FFFFFF"/>
                </a:solidFill>
                <a:latin typeface="Noto Sans SC" pitchFamily="34" charset="0"/>
                <a:ea typeface="Noto Sans SC" pitchFamily="34" charset="-122"/>
                <a:cs typeface="Noto Sans SC" pitchFamily="34" charset="-120"/>
              </a:rPr>
              <a:t>3,жәнеде</a:t>
            </a:r>
            <a:endParaRPr lang="en-US" sz="1600" dirty="0"/>
          </a:p>
        </p:txBody>
      </p:sp>
      <p:sp>
        <p:nvSpPr>
          <p:cNvPr id="4" name="Text 1"/>
          <p:cNvSpPr/>
          <p:nvPr/>
        </p:nvSpPr>
        <p:spPr>
          <a:xfrm>
            <a:off x="762000" y="1304925"/>
            <a:ext cx="7715250" cy="2971800"/>
          </a:xfrm>
          <a:prstGeom prst="rect">
            <a:avLst/>
          </a:prstGeom>
          <a:noFill/>
          <a:ln/>
        </p:spPr>
        <p:txBody>
          <a:bodyPr wrap="square" rtlCol="0" anchor="t"/>
          <a:lstStyle/>
          <a:p>
            <a:pPr algn="l" marL="342900" indent="-342900">
              <a:lnSpc>
                <a:spcPct val="150000"/>
              </a:lnSpc>
              <a:buSzPct val="100000"/>
              <a:buChar char="•"/>
            </a:pPr>
            <a:r>
              <a:rPr lang="en-US" sz="1536" dirty="0">
                <a:solidFill>
                  <a:srgbClr val="646464"/>
                </a:solidFill>
                <a:latin typeface="Noto Sans SC" pitchFamily="34" charset="0"/>
                <a:ea typeface="Noto Sans SC" pitchFamily="34" charset="-122"/>
                <a:cs typeface="Noto Sans SC" pitchFamily="34" charset="-120"/>
              </a:rPr>
              <a:t>4.Канттың философиялық ойы саяси көзқарастарды, моральдық теория мен антропологияны өзінің трансценденттік идеализмінің практикалық бөліктері ретінде қарастырып, қоғамды өзгертуді және адам сапасын жақсартуды философиясының түпкі мақсаты ретінде қабылдайды;</a:t>
            </a:r>
            <a:endParaRPr lang="en-US" sz="1536" dirty="0"/>
          </a:p>
          <a:p>
            <a:pPr algn="l" marL="342900" indent="-342900">
              <a:lnSpc>
                <a:spcPct val="150000"/>
              </a:lnSpc>
              <a:buSzPct val="100000"/>
              <a:buChar char="•"/>
            </a:pPr>
            <a:r>
              <a:rPr lang="en-US" sz="1536" dirty="0">
                <a:solidFill>
                  <a:srgbClr val="646464"/>
                </a:solidFill>
                <a:latin typeface="Noto Sans SC" pitchFamily="34" charset="0"/>
                <a:ea typeface="Noto Sans SC" pitchFamily="34" charset="-122"/>
                <a:cs typeface="Noto Sans SC" pitchFamily="34" charset="-120"/>
              </a:rPr>
              <a:t>5,Гегель абсолюттік рухтың дамуы үш кезеңнен өтті деп есептеді: логика, натурфилософия және біртұтас және бөлінбейтін тұтастық болып табылатын әлеуметтік философия;</a:t>
            </a:r>
            <a:endParaRPr lang="en-US" sz="153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2463" y="1824038"/>
            <a:ext cx="1452563" cy="1243013"/>
          </a:xfrm>
          <a:prstGeom prst="rect">
            <a:avLst/>
          </a:prstGeom>
          <a:noFill/>
          <a:ln/>
        </p:spPr>
        <p:txBody>
          <a:bodyPr wrap="square" rtlCol="0" anchor="ctr"/>
          <a:lstStyle/>
          <a:p>
            <a:pPr algn="ctr" indent="0" marL="0">
              <a:buNone/>
            </a:pPr>
            <a:r>
              <a:rPr lang="en-US" sz="5400" b="1" dirty="0">
                <a:solidFill>
                  <a:srgbClr val="FFFFFF"/>
                </a:solidFill>
                <a:latin typeface="Noto Sans SC" pitchFamily="34" charset="0"/>
                <a:ea typeface="Noto Sans SC" pitchFamily="34" charset="-122"/>
                <a:cs typeface="Noto Sans SC" pitchFamily="34" charset="-120"/>
              </a:rPr>
              <a:t>04</a:t>
            </a:r>
            <a:endParaRPr lang="en-US" sz="5400" dirty="0"/>
          </a:p>
        </p:txBody>
      </p:sp>
      <p:sp>
        <p:nvSpPr>
          <p:cNvPr id="3" name="Text 1"/>
          <p:cNvSpPr/>
          <p:nvPr/>
        </p:nvSpPr>
        <p:spPr>
          <a:xfrm>
            <a:off x="2695575" y="1790700"/>
            <a:ext cx="5101590" cy="1304925"/>
          </a:xfrm>
          <a:prstGeom prst="rect">
            <a:avLst/>
          </a:prstGeom>
          <a:noFill/>
          <a:ln/>
        </p:spPr>
        <p:txBody>
          <a:bodyPr wrap="square" rtlCol="0" anchor="ctr"/>
          <a:lstStyle/>
          <a:p>
            <a:pPr indent="0" marL="0">
              <a:buNone/>
            </a:pPr>
            <a:r>
              <a:rPr lang="en-US" sz="2144" b="1" dirty="0">
                <a:solidFill>
                  <a:srgbClr val="FFFFFF"/>
                </a:solidFill>
                <a:latin typeface="Noto Sans SC" pitchFamily="34" charset="0"/>
                <a:ea typeface="Noto Sans SC" pitchFamily="34" charset="-122"/>
                <a:cs typeface="Noto Sans SC" pitchFamily="34" charset="-120"/>
              </a:rPr>
              <a:t>4.Марксизмнің Әлеуметтік философия</a:t>
            </a:r>
            <a:endParaRPr lang="en-US" sz="214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ttps://assets.mindshow.fun/themes/blue_technology_circuit_board_20230307/Content_header.jpg">    </p:cNvPr>
          <p:cNvPicPr>
            <a:picLocks noChangeAspect="1"/>
          </p:cNvPicPr>
          <p:nvPr/>
        </p:nvPicPr>
        <p:blipFill>
          <a:blip r:embed="rId1"/>
          <a:stretch>
            <a:fillRect/>
          </a:stretch>
        </p:blipFill>
        <p:spPr>
          <a:xfrm>
            <a:off x="0" y="0"/>
            <a:ext cx="9144000" cy="981075"/>
          </a:xfrm>
          <a:prstGeom prst="rect">
            <a:avLst/>
          </a:prstGeom>
        </p:spPr>
      </p:pic>
      <p:sp>
        <p:nvSpPr>
          <p:cNvPr id="3" name="Text 0"/>
          <p:cNvSpPr/>
          <p:nvPr/>
        </p:nvSpPr>
        <p:spPr>
          <a:xfrm>
            <a:off x="762000" y="214312"/>
            <a:ext cx="6316028" cy="552450"/>
          </a:xfrm>
          <a:prstGeom prst="rect">
            <a:avLst/>
          </a:prstGeom>
          <a:noFill/>
          <a:ln/>
        </p:spPr>
        <p:txBody>
          <a:bodyPr wrap="square" rtlCol="0" anchor="ctr"/>
          <a:lstStyle/>
          <a:p>
            <a:pPr indent="0" marL="0">
              <a:buNone/>
            </a:pPr>
            <a:r>
              <a:rPr lang="en-US" sz="1600" b="1" dirty="0">
                <a:solidFill>
                  <a:srgbClr val="FFFFFF"/>
                </a:solidFill>
                <a:latin typeface="Noto Sans SC" pitchFamily="34" charset="0"/>
                <a:ea typeface="Noto Sans SC" pitchFamily="34" charset="-122"/>
                <a:cs typeface="Noto Sans SC" pitchFamily="34" charset="-120"/>
              </a:rPr>
              <a:t>4.Марксизмнің Әлеуметтік философия</a:t>
            </a:r>
            <a:endParaRPr lang="en-US" sz="1600" dirty="0"/>
          </a:p>
        </p:txBody>
      </p:sp>
      <p:sp>
        <p:nvSpPr>
          <p:cNvPr id="4" name="Text 1"/>
          <p:cNvSpPr/>
          <p:nvPr/>
        </p:nvSpPr>
        <p:spPr>
          <a:xfrm>
            <a:off x="762000" y="1304925"/>
            <a:ext cx="7715250" cy="3429000"/>
          </a:xfrm>
          <a:prstGeom prst="rect">
            <a:avLst/>
          </a:prstGeom>
          <a:noFill/>
          <a:ln/>
        </p:spPr>
        <p:txBody>
          <a:bodyPr wrap="square" rtlCol="0" anchor="t"/>
          <a:lstStyle/>
          <a:p>
            <a:pPr algn="l" marL="342900" indent="-342900">
              <a:lnSpc>
                <a:spcPct val="150000"/>
              </a:lnSpc>
              <a:buSzPct val="100000"/>
              <a:buChar char="•"/>
            </a:pPr>
            <a:r>
              <a:rPr lang="en-US" sz="1536" dirty="0">
                <a:solidFill>
                  <a:srgbClr val="646464"/>
                </a:solidFill>
                <a:latin typeface="Noto Sans SC" pitchFamily="34" charset="0"/>
                <a:ea typeface="Noto Sans SC" pitchFamily="34" charset="-122"/>
                <a:cs typeface="Noto Sans SC" pitchFamily="34" charset="-120"/>
              </a:rPr>
              <a:t>Марксизмнің тарихи заңдылықтар мен коммунистік қоғамның болашағын талқылауы әлеуметтік философияның ең жоғары жетістігі болып табылады. Ол өзінен бұрын пайда болған әлеуметтік философияның тарихи идеалистік құрамдас бөлігін жоққа шығарады және тарихи материализм арқылы қоғамдық дамудың қозғаушы күшін, қоғамдық дамудың заңдылығын, қоғамдық дамудағы жеке адамдардың рөлін және т.б. түсіндіреді, бұлардың барлығы өте маңызды. философиялық зерттеулердің бір саласы ретінде.Әлеуметтік философияның мазмұны ғылыми тұрғыдан түсіндірілді.</a:t>
            </a:r>
            <a:endParaRPr lang="en-US" sz="153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871788" y="1833562"/>
            <a:ext cx="3395663" cy="552450"/>
          </a:xfrm>
          <a:prstGeom prst="rect">
            <a:avLst/>
          </a:prstGeom>
          <a:noFill/>
          <a:ln/>
        </p:spPr>
        <p:txBody>
          <a:bodyPr wrap="square" rtlCol="0" anchor="t"/>
          <a:lstStyle/>
          <a:p>
            <a:pPr algn="ctr" indent="0" marL="0">
              <a:buNone/>
            </a:pPr>
            <a:r>
              <a:rPr lang="en-US" sz="2400" b="1" dirty="0">
                <a:solidFill>
                  <a:srgbClr val="FFFFFF"/>
                </a:solidFill>
                <a:latin typeface="Noto Sans SC" pitchFamily="34" charset="0"/>
                <a:ea typeface="Noto Sans SC" pitchFamily="34" charset="-122"/>
                <a:cs typeface="Noto Sans SC" pitchFamily="34" charset="-120"/>
              </a:rPr>
              <a:t>THE END</a:t>
            </a:r>
            <a:endParaRPr lang="en-US" sz="2400" dirty="0"/>
          </a:p>
        </p:txBody>
      </p:sp>
      <p:sp>
        <p:nvSpPr>
          <p:cNvPr id="3" name="Text 1"/>
          <p:cNvSpPr/>
          <p:nvPr/>
        </p:nvSpPr>
        <p:spPr>
          <a:xfrm>
            <a:off x="2871788" y="2276475"/>
            <a:ext cx="3395663" cy="1033463"/>
          </a:xfrm>
          <a:prstGeom prst="rect">
            <a:avLst/>
          </a:prstGeom>
          <a:noFill/>
          <a:ln/>
        </p:spPr>
        <p:txBody>
          <a:bodyPr wrap="square" rtlCol="0" anchor="t"/>
          <a:lstStyle/>
          <a:p>
            <a:pPr algn="ctr" indent="0" marL="0">
              <a:buNone/>
            </a:pPr>
            <a:r>
              <a:rPr lang="en-US" sz="4500" b="1" dirty="0">
                <a:solidFill>
                  <a:srgbClr val="FFFFFF"/>
                </a:solidFill>
                <a:latin typeface="Noto Sans SC" pitchFamily="34" charset="0"/>
                <a:ea typeface="Noto Sans SC" pitchFamily="34" charset="-122"/>
                <a:cs typeface="Noto Sans SC" pitchFamily="34" charset="-120"/>
              </a:rPr>
              <a:t>THANKS</a:t>
            </a:r>
            <a:endParaRPr lang="en-US" sz="4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Әлеуметтік философиясы</dc:title>
  <dc:subject/>
  <dc:creator/>
  <cp:lastModifiedBy/>
  <cp:revision>1</cp:revision>
  <dcterms:created xsi:type="dcterms:W3CDTF">2023-11-16T08:37:51Z</dcterms:created>
  <dcterms:modified xsi:type="dcterms:W3CDTF">2023-11-16T08:37:51Z</dcterms:modified>
</cp:coreProperties>
</file>